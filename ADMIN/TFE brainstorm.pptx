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3" r:id="rId9"/>
    <p:sldId id="262" r:id="rId10"/>
    <p:sldId id="264" r:id="rId11"/>
    <p:sldId id="275" r:id="rId12"/>
    <p:sldId id="274" r:id="rId13"/>
    <p:sldId id="272" r:id="rId14"/>
  </p:sldIdLst>
  <p:sldSz cx="9144000" cy="5143500" type="screen16x9"/>
  <p:notesSz cx="6858000" cy="9144000"/>
  <p:embeddedFontLst>
    <p:embeddedFont>
      <p:font typeface="Raleway" pitchFamily="2" charset="77"/>
      <p:regular r:id="rId16"/>
      <p:bold r:id="rId17"/>
      <p:italic r:id="rId18"/>
      <p:boldItalic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635C24-0CE7-45F6-88C1-F9183D87E46A}">
  <a:tblStyle styleId="{2D635C24-0CE7-45F6-88C1-F9183D87E4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1"/>
    <p:restoredTop sz="94716"/>
  </p:normalViewPr>
  <p:slideViewPr>
    <p:cSldViewPr snapToGrid="0">
      <p:cViewPr varScale="1">
        <p:scale>
          <a:sx n="128" d="100"/>
          <a:sy n="128" d="100"/>
        </p:scale>
        <p:origin x="168" y="3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9e8c884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e9e8c884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e9e8c884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e9e8c884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544c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544c1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e9e8c884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e9e8c884b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e9e8c884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e9e8c884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31549c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f31549c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3f10dcf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3f10dcf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f31549ce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f31549ce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03a726a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03a726a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B-Darmstadt/shacl-form" TargetMode="External"/><Relationship Id="rId7" Type="http://schemas.openxmlformats.org/officeDocument/2006/relationships/hyperlink" Target="https://essay.utwente.nl/fileshare/file/96336/viste_BA_EEMCS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edium.com/@amivanoff/the-new-rml-cheat-sheet-map-everything-to-the-rdf-with-ease-ba6a767edfaf" TargetMode="External"/><Relationship Id="rId5" Type="http://schemas.openxmlformats.org/officeDocument/2006/relationships/hyperlink" Target="https://www.w3.org/TR/shacl/" TargetMode="External"/><Relationship Id="rId4" Type="http://schemas.openxmlformats.org/officeDocument/2006/relationships/hyperlink" Target="https://kg-construct.github.io/rml-core/spec/docs/#mapping-graphs-and-the-rml-vocabula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Master thesis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53100" y="1420569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RML SHACL-form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485875" y="151022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Brainstorm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594638" y="1271525"/>
            <a:ext cx="1425900" cy="140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123638" y="1787075"/>
            <a:ext cx="471000" cy="36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283338" y="1748975"/>
            <a:ext cx="8403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INPUT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521488" y="1748975"/>
            <a:ext cx="1167000" cy="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OUTPUT</a:t>
            </a: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4294967295"/>
          </p:nvPr>
        </p:nvSpPr>
        <p:spPr>
          <a:xfrm>
            <a:off x="1070554" y="2103500"/>
            <a:ext cx="2662200" cy="9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" b="1">
                <a:solidFill>
                  <a:schemeClr val="dk2"/>
                </a:solidFill>
              </a:rPr>
              <a:t>“We want to create a SHACL form for RML”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4294967295"/>
          </p:nvPr>
        </p:nvSpPr>
        <p:spPr>
          <a:xfrm>
            <a:off x="5220639" y="2156375"/>
            <a:ext cx="3033900" cy="9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dk2"/>
                </a:solidFill>
              </a:rPr>
              <a:t>Master thesis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" sz="1400"/>
              <a:t>We don’t want just an implementation but a </a:t>
            </a:r>
            <a:r>
              <a:rPr lang="fr" sz="1400">
                <a:solidFill>
                  <a:srgbClr val="CC0000"/>
                </a:solidFill>
                <a:highlight>
                  <a:schemeClr val="lt1"/>
                </a:highlight>
              </a:rPr>
              <a:t>RESEARCH QUESTION</a:t>
            </a:r>
            <a:endParaRPr b="1">
              <a:solidFill>
                <a:srgbClr val="CC0000"/>
              </a:solidFill>
              <a:highlight>
                <a:schemeClr val="lt1"/>
              </a:highlight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009319" y="1787075"/>
            <a:ext cx="471000" cy="36930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2" name="Google Shape;72;p14" descr="a close up of a cat licking its paw against a white background . (fourni par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638" y="2103496"/>
            <a:ext cx="840300" cy="55815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1284150" y="4404600"/>
            <a:ext cx="6575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-&gt; Challenge: </a:t>
            </a:r>
            <a:r>
              <a:rPr lang="fr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Moving from “just coding” to a </a:t>
            </a:r>
            <a:r>
              <a:rPr lang="fr" sz="1800">
                <a:solidFill>
                  <a:srgbClr val="CC0000"/>
                </a:solidFill>
                <a:highlight>
                  <a:schemeClr val="lt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scientific approach</a:t>
            </a:r>
            <a:r>
              <a:rPr lang="fr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1800">
              <a:solidFill>
                <a:srgbClr val="1F232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26678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I have done so far… 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09869" y="1542678"/>
            <a:ext cx="2807400" cy="14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 err="1"/>
              <a:t>Analyzed</a:t>
            </a:r>
            <a:r>
              <a:rPr lang="fr-FR" dirty="0"/>
              <a:t> RML &amp; SHACL concepts.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 err="1"/>
              <a:t>Tried</a:t>
            </a:r>
            <a:r>
              <a:rPr lang="fr" dirty="0"/>
              <a:t> </a:t>
            </a:r>
            <a:r>
              <a:rPr lang="fr" dirty="0" err="1"/>
              <a:t>some</a:t>
            </a:r>
            <a:r>
              <a:rPr lang="fr" dirty="0"/>
              <a:t> simple </a:t>
            </a:r>
            <a:r>
              <a:rPr lang="fr" dirty="0" err="1"/>
              <a:t>implementation</a:t>
            </a:r>
            <a:r>
              <a:rPr lang="fr" dirty="0"/>
              <a:t> exercices to </a:t>
            </a:r>
            <a:r>
              <a:rPr lang="fr" dirty="0" err="1"/>
              <a:t>be</a:t>
            </a:r>
            <a:r>
              <a:rPr lang="fr" dirty="0"/>
              <a:t> </a:t>
            </a:r>
            <a:r>
              <a:rPr lang="fr" dirty="0" err="1"/>
              <a:t>familiar</a:t>
            </a:r>
            <a:r>
              <a:rPr lang="fr" dirty="0"/>
              <a:t> </a:t>
            </a:r>
            <a:r>
              <a:rPr lang="fr" dirty="0" err="1"/>
              <a:t>with</a:t>
            </a:r>
            <a:r>
              <a:rPr lang="fr" dirty="0"/>
              <a:t> the topic</a:t>
            </a:r>
            <a:endParaRPr dirty="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96844" y="1749936"/>
            <a:ext cx="28074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 err="1"/>
              <a:t>Find</a:t>
            </a:r>
            <a:r>
              <a:rPr lang="fr" dirty="0"/>
              <a:t> a </a:t>
            </a:r>
            <a:r>
              <a:rPr lang="fr" dirty="0" err="1"/>
              <a:t>way</a:t>
            </a:r>
            <a:r>
              <a:rPr lang="fr" dirty="0"/>
              <a:t> to </a:t>
            </a:r>
            <a:r>
              <a:rPr lang="fr" dirty="0" err="1"/>
              <a:t>decide</a:t>
            </a:r>
            <a:r>
              <a:rPr lang="fr" dirty="0"/>
              <a:t> </a:t>
            </a:r>
            <a:r>
              <a:rPr lang="fr" dirty="0" err="1"/>
              <a:t>which</a:t>
            </a:r>
            <a:r>
              <a:rPr lang="fr" dirty="0"/>
              <a:t> one to </a:t>
            </a:r>
            <a:r>
              <a:rPr lang="fr" dirty="0" err="1"/>
              <a:t>choose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/>
              <a:t>-&gt; </a:t>
            </a:r>
            <a:r>
              <a:rPr lang="fr" dirty="0" err="1"/>
              <a:t>Decided</a:t>
            </a:r>
            <a:r>
              <a:rPr lang="fr" dirty="0"/>
              <a:t> to compare </a:t>
            </a:r>
            <a:r>
              <a:rPr lang="fr" dirty="0" err="1"/>
              <a:t>them</a:t>
            </a:r>
            <a:r>
              <a:rPr lang="fr" dirty="0"/>
              <a:t> base on the sh: </a:t>
            </a:r>
            <a:r>
              <a:rPr lang="fr" dirty="0" err="1"/>
              <a:t>features</a:t>
            </a:r>
            <a:r>
              <a:rPr lang="fr" dirty="0"/>
              <a:t> </a:t>
            </a:r>
            <a:r>
              <a:rPr lang="fr" dirty="0" err="1"/>
              <a:t>they</a:t>
            </a:r>
            <a:r>
              <a:rPr lang="fr" dirty="0"/>
              <a:t> </a:t>
            </a:r>
            <a:r>
              <a:rPr lang="fr" dirty="0" err="1"/>
              <a:t>handle</a:t>
            </a:r>
            <a:r>
              <a:rPr lang="fr" dirty="0"/>
              <a:t> or.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/>
              <a:t>-&gt; </a:t>
            </a:r>
            <a:r>
              <a:rPr lang="fr" dirty="0" err="1"/>
              <a:t>Listed</a:t>
            </a:r>
            <a:r>
              <a:rPr lang="fr" dirty="0"/>
              <a:t> the </a:t>
            </a:r>
            <a:r>
              <a:rPr lang="fr" dirty="0" err="1"/>
              <a:t>most</a:t>
            </a:r>
            <a:r>
              <a:rPr lang="fr" dirty="0"/>
              <a:t> </a:t>
            </a:r>
            <a:r>
              <a:rPr lang="fr" dirty="0" err="1"/>
              <a:t>useful</a:t>
            </a:r>
            <a:r>
              <a:rPr lang="fr" dirty="0"/>
              <a:t> </a:t>
            </a:r>
            <a:r>
              <a:rPr lang="fr" dirty="0" err="1"/>
              <a:t>features</a:t>
            </a:r>
            <a:r>
              <a:rPr lang="fr" dirty="0"/>
              <a:t> for an RML </a:t>
            </a:r>
            <a:r>
              <a:rPr lang="fr" dirty="0" err="1"/>
              <a:t>form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fr" dirty="0" err="1"/>
              <a:t>sh:node</a:t>
            </a:r>
            <a:r>
              <a:rPr lang="fr" dirty="0"/>
              <a:t>, </a:t>
            </a:r>
            <a:r>
              <a:rPr lang="fr" dirty="0" err="1"/>
              <a:t>sh:or</a:t>
            </a:r>
            <a:r>
              <a:rPr lang="fr" dirty="0"/>
              <a:t>, </a:t>
            </a:r>
            <a:r>
              <a:rPr lang="fr" dirty="0" err="1"/>
              <a:t>existing</a:t>
            </a:r>
            <a:r>
              <a:rPr lang="fr" dirty="0"/>
              <a:t> instances…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/>
              <a:t>-&gt; </a:t>
            </a:r>
            <a:r>
              <a:rPr lang="fr" dirty="0" err="1"/>
              <a:t>Choose</a:t>
            </a:r>
            <a:r>
              <a:rPr lang="fr" dirty="0"/>
              <a:t> the best one </a:t>
            </a:r>
            <a:r>
              <a:rPr lang="fr" dirty="0" err="1"/>
              <a:t>accordingly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fr" dirty="0"/>
              <a:t>Darmstadt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6183825" y="1749916"/>
            <a:ext cx="2622900" cy="7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Started coding and implementing…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349894" y="3030078"/>
            <a:ext cx="20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2. State-of-the-art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89369" y="1080978"/>
            <a:ext cx="2807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1. Theoretical Background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428719" y="1177003"/>
            <a:ext cx="2024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4. Implementation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289082" y="1288228"/>
            <a:ext cx="262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3. Methodology /Analyse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09875" y="3491774"/>
            <a:ext cx="2886900" cy="12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 err="1"/>
              <a:t>Tested</a:t>
            </a:r>
            <a:r>
              <a:rPr lang="fr" dirty="0"/>
              <a:t> </a:t>
            </a:r>
            <a:r>
              <a:rPr lang="fr" dirty="0" err="1"/>
              <a:t>existing</a:t>
            </a:r>
            <a:r>
              <a:rPr lang="fr" dirty="0"/>
              <a:t> SHCL-</a:t>
            </a:r>
            <a:r>
              <a:rPr lang="fr" dirty="0" err="1"/>
              <a:t>forms</a:t>
            </a:r>
            <a:r>
              <a:rPr lang="fr" dirty="0"/>
              <a:t>: (Darmstadt, </a:t>
            </a:r>
            <a:r>
              <a:rPr lang="fr" dirty="0" err="1"/>
              <a:t>DanieleBeecke</a:t>
            </a:r>
            <a:r>
              <a:rPr lang="fr" dirty="0"/>
              <a:t>, </a:t>
            </a:r>
            <a:r>
              <a:rPr lang="fr" dirty="0" err="1"/>
              <a:t>Shaperone</a:t>
            </a:r>
            <a:r>
              <a:rPr lang="fr" dirty="0"/>
              <a:t>)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 dirty="0" err="1"/>
              <a:t>Compared</a:t>
            </a:r>
            <a:r>
              <a:rPr lang="fr" dirty="0"/>
              <a:t> </a:t>
            </a:r>
            <a:r>
              <a:rPr lang="fr" dirty="0" err="1"/>
              <a:t>them</a:t>
            </a:r>
            <a:endParaRPr dirty="0"/>
          </a:p>
        </p:txBody>
      </p:sp>
      <p:sp>
        <p:nvSpPr>
          <p:cNvPr id="87" name="Google Shape;87;p15"/>
          <p:cNvSpPr/>
          <p:nvPr/>
        </p:nvSpPr>
        <p:spPr>
          <a:xfrm rot="-5397975">
            <a:off x="7066010" y="2622625"/>
            <a:ext cx="509400" cy="3312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6435850" y="3030075"/>
            <a:ext cx="176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 err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where</a:t>
            </a: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 </a:t>
            </a:r>
            <a:r>
              <a:rPr lang="fr" sz="1600" dirty="0" err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am</a:t>
            </a: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fr" sz="1600" dirty="0" err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now</a:t>
            </a: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(8. </a:t>
            </a:r>
            <a:r>
              <a:rPr lang="fr" sz="1600" dirty="0" err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dec</a:t>
            </a: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2025)</a:t>
            </a:r>
            <a:endParaRPr sz="1600" dirty="0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6046064-AAF1-294D-2155-ACBCB9BBC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here</a:t>
            </a:r>
            <a:r>
              <a:rPr lang="fr-FR" dirty="0"/>
              <a:t> </a:t>
            </a:r>
            <a:r>
              <a:rPr lang="fr-FR" dirty="0" err="1"/>
              <a:t>my</a:t>
            </a:r>
            <a:r>
              <a:rPr lang="fr-FR" dirty="0"/>
              <a:t> </a:t>
            </a:r>
            <a:r>
              <a:rPr lang="fr-FR" dirty="0" err="1"/>
              <a:t>excel</a:t>
            </a:r>
            <a:r>
              <a:rPr lang="fr-FR" dirty="0"/>
              <a:t> comparaison</a:t>
            </a:r>
          </a:p>
        </p:txBody>
      </p:sp>
    </p:spTree>
    <p:extLst>
      <p:ext uri="{BB962C8B-B14F-4D97-AF65-F5344CB8AC3E}">
        <p14:creationId xmlns:p14="http://schemas.microsoft.com/office/powerpoint/2010/main" val="224572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074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about the research question ?</a:t>
            </a:r>
            <a:endParaRPr/>
          </a:p>
        </p:txBody>
      </p:sp>
      <p:pic>
        <p:nvPicPr>
          <p:cNvPr id="94" name="Google Shape;94;p16" descr="a cat is playing with an apple laptop with the words research time written below it (fourni par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4275" y="3973775"/>
            <a:ext cx="1169725" cy="11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4034475" y="414137"/>
            <a:ext cx="1642500" cy="100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00" name="Google Shape;100;p17"/>
          <p:cNvGraphicFramePr/>
          <p:nvPr/>
        </p:nvGraphicFramePr>
        <p:xfrm>
          <a:off x="451166" y="2167495"/>
          <a:ext cx="8299475" cy="1539180"/>
        </p:xfrm>
        <a:graphic>
          <a:graphicData uri="http://schemas.openxmlformats.org/drawingml/2006/table">
            <a:tbl>
              <a:tblPr>
                <a:noFill/>
                <a:tableStyleId>{2D635C24-0CE7-45F6-88C1-F9183D87E46A}</a:tableStyleId>
              </a:tblPr>
              <a:tblGrid>
                <a:gridCol w="513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1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 b="1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More concretely</a:t>
                      </a:r>
                      <a:endParaRPr sz="1200" b="1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Are there “form-specific” shapes? </a:t>
                      </a:r>
                      <a:endParaRPr sz="120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Does the SHACL form has to be specific to the (type of) shape we plan to encode?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200" b="1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Use-case: RML. Why?</a:t>
                      </a:r>
                      <a:endParaRPr sz="1200" b="1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Complex and useful RDF graph</a:t>
                      </a:r>
                      <a:endParaRPr sz="120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∃ existing official shapes to </a:t>
                      </a:r>
                      <a:endParaRPr sz="120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-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test limitations of a form, and</a:t>
                      </a:r>
                      <a:endParaRPr sz="120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-"/>
                      </a:pPr>
                      <a:r>
                        <a:rPr lang="fr" sz="120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see how to make it “form-friendly”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endParaRPr sz="1200" b="1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endParaRPr sz="1200" b="1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1" name="Google Shape;101;p17"/>
          <p:cNvSpPr txBox="1">
            <a:spLocks noGrp="1"/>
          </p:cNvSpPr>
          <p:nvPr>
            <p:ph type="body" idx="4294967295"/>
          </p:nvPr>
        </p:nvSpPr>
        <p:spPr>
          <a:xfrm>
            <a:off x="425575" y="63650"/>
            <a:ext cx="23265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>
                <a:solidFill>
                  <a:schemeClr val="dk2"/>
                </a:solidFill>
              </a:rPr>
              <a:t>Introduction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(see </a:t>
            </a:r>
            <a:r>
              <a:rPr lang="fr" sz="1200">
                <a:solidFill>
                  <a:schemeClr val="dk1"/>
                </a:solidFill>
              </a:rPr>
              <a:t>Theoretical Background</a:t>
            </a:r>
            <a:r>
              <a:rPr lang="fr" sz="1300"/>
              <a:t>)</a:t>
            </a:r>
            <a:br>
              <a:rPr lang="fr" sz="1300"/>
            </a:br>
            <a:r>
              <a:rPr lang="fr" sz="1300"/>
              <a:t>RDF, SHACL, RML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4294967295"/>
          </p:nvPr>
        </p:nvSpPr>
        <p:spPr>
          <a:xfrm>
            <a:off x="451175" y="3462935"/>
            <a:ext cx="26622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>
                <a:solidFill>
                  <a:schemeClr val="accent1"/>
                </a:solidFill>
              </a:rPr>
              <a:t>Objective 1:</a:t>
            </a:r>
            <a:endParaRPr sz="1200" b="1" u="sng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Design a shape for RML, </a:t>
            </a:r>
            <a:r>
              <a:rPr lang="fr" sz="1200" i="1"/>
              <a:t>suitable</a:t>
            </a:r>
            <a:r>
              <a:rPr lang="fr" sz="1200"/>
              <a:t> for a form. </a:t>
            </a:r>
            <a:r>
              <a:rPr lang="fr" sz="1000"/>
              <a:t>(Define what that means)</a:t>
            </a:r>
            <a:endParaRPr sz="10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accent1"/>
                </a:solidFill>
              </a:rPr>
              <a:t>Proposal:</a:t>
            </a:r>
            <a:endParaRPr sz="1200" b="1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Simplify the RML-core shapes given by kg-construct</a:t>
            </a:r>
            <a:endParaRPr sz="12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4294967295"/>
          </p:nvPr>
        </p:nvSpPr>
        <p:spPr>
          <a:xfrm>
            <a:off x="3436737" y="63657"/>
            <a:ext cx="2662200" cy="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>
                <a:solidFill>
                  <a:schemeClr val="dk2"/>
                </a:solidFill>
              </a:rPr>
              <a:t>Problem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4294967295"/>
          </p:nvPr>
        </p:nvSpPr>
        <p:spPr>
          <a:xfrm>
            <a:off x="6034700" y="63650"/>
            <a:ext cx="2715900" cy="15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>
                <a:solidFill>
                  <a:schemeClr val="dk2"/>
                </a:solidFill>
              </a:rPr>
              <a:t>Related Work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(see </a:t>
            </a:r>
            <a:r>
              <a:rPr lang="fr" sz="1200">
                <a:solidFill>
                  <a:schemeClr val="dk1"/>
                </a:solidFill>
              </a:rPr>
              <a:t>State-of-the-art</a:t>
            </a:r>
            <a:r>
              <a:rPr lang="fr" sz="1300"/>
              <a:t>)</a:t>
            </a:r>
            <a:br>
              <a:rPr lang="fr" sz="1300"/>
            </a:br>
            <a:r>
              <a:rPr lang="fr" sz="1300"/>
              <a:t>Existing SHACL forms (Darmstadt, Shaperone, DanielBeeck) -&gt; handles a subset of SHACL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105" name="Google Shape;105;p17"/>
          <p:cNvSpPr/>
          <p:nvPr/>
        </p:nvSpPr>
        <p:spPr>
          <a:xfrm>
            <a:off x="4206098" y="470822"/>
            <a:ext cx="550904" cy="892490"/>
          </a:xfrm>
          <a:prstGeom prst="flowChartInternalStorage">
            <a:avLst/>
          </a:prstGeom>
          <a:solidFill>
            <a:schemeClr val="accent3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2">
                <a:latin typeface="Source Sans Pro"/>
                <a:ea typeface="Source Sans Pro"/>
                <a:cs typeface="Source Sans Pro"/>
                <a:sym typeface="Source Sans Pro"/>
              </a:rPr>
              <a:t>SHACL-</a:t>
            </a:r>
            <a:r>
              <a:rPr lang="fr" sz="1102" b="1">
                <a:latin typeface="Source Sans Pro"/>
                <a:ea typeface="Source Sans Pro"/>
                <a:cs typeface="Source Sans Pro"/>
                <a:sym typeface="Source Sans Pro"/>
              </a:rPr>
              <a:t>form</a:t>
            </a:r>
            <a:endParaRPr sz="1102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2928240" y="552659"/>
            <a:ext cx="748500" cy="7287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SHACL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10">
                <a:latin typeface="Source Sans Pro"/>
                <a:ea typeface="Source Sans Pro"/>
                <a:cs typeface="Source Sans Pro"/>
                <a:sym typeface="Source Sans Pro"/>
              </a:rPr>
              <a:t>shapes</a:t>
            </a:r>
            <a:endParaRPr sz="9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07" name="Google Shape;107;p17"/>
          <p:cNvCxnSpPr>
            <a:stCxn id="106" idx="3"/>
            <a:endCxn id="105" idx="1"/>
          </p:cNvCxnSpPr>
          <p:nvPr/>
        </p:nvCxnSpPr>
        <p:spPr>
          <a:xfrm>
            <a:off x="3585652" y="917009"/>
            <a:ext cx="620400" cy="0"/>
          </a:xfrm>
          <a:prstGeom prst="straightConnector1">
            <a:avLst/>
          </a:prstGeom>
          <a:noFill/>
          <a:ln w="87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" name="Google Shape;108;p17"/>
          <p:cNvSpPr txBox="1"/>
          <p:nvPr/>
        </p:nvSpPr>
        <p:spPr>
          <a:xfrm>
            <a:off x="3736230" y="636243"/>
            <a:ext cx="175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83975" rIns="83975" bIns="83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36" b="1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sz="1836" b="1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039627" y="634496"/>
            <a:ext cx="550800" cy="565200"/>
          </a:xfrm>
          <a:prstGeom prst="verticalScroll">
            <a:avLst>
              <a:gd name="adj" fmla="val 12500"/>
            </a:avLst>
          </a:prstGeom>
          <a:solidFill>
            <a:schemeClr val="lt1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RDF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10">
                <a:latin typeface="Source Sans Pro"/>
                <a:ea typeface="Source Sans Pro"/>
                <a:cs typeface="Source Sans Pro"/>
                <a:sym typeface="Source Sans Pro"/>
              </a:rPr>
              <a:t>graph</a:t>
            </a:r>
            <a:endParaRPr sz="7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10" name="Google Shape;110;p17"/>
          <p:cNvCxnSpPr>
            <a:stCxn id="105" idx="3"/>
            <a:endCxn id="109" idx="1"/>
          </p:cNvCxnSpPr>
          <p:nvPr/>
        </p:nvCxnSpPr>
        <p:spPr>
          <a:xfrm>
            <a:off x="4757002" y="917067"/>
            <a:ext cx="351600" cy="0"/>
          </a:xfrm>
          <a:prstGeom prst="straightConnector1">
            <a:avLst/>
          </a:prstGeom>
          <a:noFill/>
          <a:ln w="87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111;p17"/>
          <p:cNvSpPr txBox="1">
            <a:spLocks noGrp="1"/>
          </p:cNvSpPr>
          <p:nvPr>
            <p:ph type="body" idx="4294967295"/>
          </p:nvPr>
        </p:nvSpPr>
        <p:spPr>
          <a:xfrm>
            <a:off x="502150" y="1513531"/>
            <a:ext cx="8248500" cy="654000"/>
          </a:xfrm>
          <a:prstGeom prst="rect">
            <a:avLst/>
          </a:prstGeom>
          <a:solidFill>
            <a:srgbClr val="D9D9D9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err="1">
                <a:solidFill>
                  <a:schemeClr val="dk2"/>
                </a:solidFill>
              </a:rPr>
              <a:t>Research</a:t>
            </a:r>
            <a:r>
              <a:rPr lang="fr" b="1" dirty="0">
                <a:solidFill>
                  <a:schemeClr val="dk2"/>
                </a:solidFill>
              </a:rPr>
              <a:t> question</a:t>
            </a:r>
            <a:endParaRPr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strike="sngStrike" dirty="0"/>
              <a:t>Is </a:t>
            </a:r>
            <a:r>
              <a:rPr lang="fr" sz="1400" strike="sngStrike" dirty="0" err="1"/>
              <a:t>it</a:t>
            </a:r>
            <a:r>
              <a:rPr lang="fr" sz="1400" strike="sngStrike" dirty="0"/>
              <a:t> possible to </a:t>
            </a:r>
            <a:r>
              <a:rPr lang="fr" sz="1400" strike="sngStrike" dirty="0" err="1"/>
              <a:t>generate</a:t>
            </a:r>
            <a:r>
              <a:rPr lang="fr" sz="1400" strike="sngStrike" dirty="0"/>
              <a:t> a </a:t>
            </a:r>
            <a:r>
              <a:rPr lang="fr" sz="1400" strike="sngStrike" dirty="0" err="1"/>
              <a:t>form</a:t>
            </a:r>
            <a:r>
              <a:rPr lang="fr" sz="1400" strike="sngStrike" dirty="0"/>
              <a:t> </a:t>
            </a:r>
            <a:r>
              <a:rPr lang="fr" sz="1400" strike="sngStrike" dirty="0" err="1"/>
              <a:t>that</a:t>
            </a:r>
            <a:r>
              <a:rPr lang="fr" sz="1400" strike="sngStrike" dirty="0"/>
              <a:t> </a:t>
            </a:r>
            <a:r>
              <a:rPr lang="fr" sz="1400" strike="sngStrike" dirty="0" err="1"/>
              <a:t>handles</a:t>
            </a:r>
            <a:r>
              <a:rPr lang="fr" sz="1400" strike="sngStrike" dirty="0"/>
              <a:t> </a:t>
            </a:r>
            <a:r>
              <a:rPr lang="fr" sz="1400" strike="sngStrike" dirty="0" err="1"/>
              <a:t>any</a:t>
            </a:r>
            <a:r>
              <a:rPr lang="fr" sz="1400" strike="sngStrike" dirty="0"/>
              <a:t> SHACL </a:t>
            </a:r>
            <a:r>
              <a:rPr lang="fr" sz="1400" strike="sngStrike" dirty="0" err="1"/>
              <a:t>shape</a:t>
            </a:r>
            <a:r>
              <a:rPr lang="fr" sz="1400" strike="sngStrike" dirty="0"/>
              <a:t>?</a:t>
            </a:r>
            <a:endParaRPr strike="sngStrike"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4294967295"/>
          </p:nvPr>
        </p:nvSpPr>
        <p:spPr>
          <a:xfrm>
            <a:off x="3234925" y="3462950"/>
            <a:ext cx="27159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>
                <a:solidFill>
                  <a:schemeClr val="accent1"/>
                </a:solidFill>
              </a:rPr>
              <a:t>Objective 2:</a:t>
            </a:r>
            <a:endParaRPr sz="1200" b="1" u="sng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Conceptualize the form for RML. </a:t>
            </a:r>
            <a:endParaRPr sz="10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accent1"/>
                </a:solidFill>
              </a:rPr>
              <a:t>Proposal:</a:t>
            </a:r>
            <a:endParaRPr sz="1200" b="1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From the state-of-the-art, compare which one has best potential for my use-case by listing (necessary) features</a:t>
            </a:r>
            <a:endParaRPr sz="12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4294967295"/>
          </p:nvPr>
        </p:nvSpPr>
        <p:spPr>
          <a:xfrm>
            <a:off x="6072375" y="3462925"/>
            <a:ext cx="27159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>
                <a:solidFill>
                  <a:schemeClr val="accent1"/>
                </a:solidFill>
              </a:rPr>
              <a:t>Objective 3:</a:t>
            </a:r>
            <a:endParaRPr sz="1200" b="1" u="sng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Pour aller plus loin.. Implement reusable nodes in the form</a:t>
            </a:r>
            <a:endParaRPr sz="10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accent1"/>
                </a:solidFill>
              </a:rPr>
              <a:t>Proposal:</a:t>
            </a:r>
            <a:endParaRPr sz="12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/>
              <a:t>Make use of existing feature of the selected state-of-the-art.</a:t>
            </a:r>
            <a:endParaRPr sz="120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4034475" y="414137"/>
            <a:ext cx="1642500" cy="100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aphicFrame>
        <p:nvGraphicFramePr>
          <p:cNvPr id="119" name="Google Shape;119;p18"/>
          <p:cNvGraphicFramePr/>
          <p:nvPr>
            <p:extLst>
              <p:ext uri="{D42A27DB-BD31-4B8C-83A1-F6EECF244321}">
                <p14:modId xmlns:p14="http://schemas.microsoft.com/office/powerpoint/2010/main" val="4028973138"/>
              </p:ext>
            </p:extLst>
          </p:nvPr>
        </p:nvGraphicFramePr>
        <p:xfrm>
          <a:off x="451166" y="2167495"/>
          <a:ext cx="8299475" cy="1696660"/>
        </p:xfrm>
        <a:graphic>
          <a:graphicData uri="http://schemas.openxmlformats.org/drawingml/2006/table">
            <a:tbl>
              <a:tblPr>
                <a:noFill/>
                <a:tableStyleId>{2D635C24-0CE7-45F6-88C1-F9183D87E46A}</a:tableStyleId>
              </a:tblPr>
              <a:tblGrid>
                <a:gridCol w="513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1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More </a:t>
                      </a:r>
                      <a:r>
                        <a:rPr lang="fr" sz="1200" b="1" dirty="0" err="1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concretely</a:t>
                      </a:r>
                      <a:endParaRPr sz="1200" b="1" dirty="0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Which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features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of SHACL (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core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W3C)  are compatible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with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automated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form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generation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, and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which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one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require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adaptations or are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fundamentally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incompatible?</a:t>
                      </a:r>
                      <a:endParaRPr sz="1200" dirty="0">
                        <a:solidFill>
                          <a:srgbClr val="CC00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CC0000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What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design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strategy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enable us to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reconcile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validation (SHACL) and user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usability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(for </a:t>
                      </a:r>
                      <a:r>
                        <a:rPr lang="fr" sz="1200" dirty="0" err="1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form</a:t>
                      </a:r>
                      <a:r>
                        <a:rPr lang="fr" sz="1200" dirty="0">
                          <a:solidFill>
                            <a:srgbClr val="CC00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).</a:t>
                      </a:r>
                      <a:endParaRPr sz="1300" dirty="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b="1" dirty="0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Use-case: RML. </a:t>
                      </a:r>
                      <a:r>
                        <a:rPr lang="fr" sz="1200" b="1" dirty="0" err="1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Why</a:t>
                      </a:r>
                      <a:r>
                        <a:rPr lang="fr" sz="1200" b="1" dirty="0">
                          <a:solidFill>
                            <a:schemeClr val="accen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?</a:t>
                      </a:r>
                      <a:endParaRPr sz="1200" b="1" dirty="0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Complex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and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useful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RDF graph</a:t>
                      </a:r>
                      <a:endParaRPr sz="1200" dirty="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➔"/>
                      </a:pP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∃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existing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official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shapes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to </a:t>
                      </a:r>
                      <a:endParaRPr sz="1200" dirty="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-"/>
                      </a:pP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test limitations of a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form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, and</a:t>
                      </a:r>
                      <a:endParaRPr sz="1200" dirty="0">
                        <a:solidFill>
                          <a:schemeClr val="lt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200"/>
                        <a:buFont typeface="Source Sans Pro"/>
                        <a:buChar char="-"/>
                      </a:pP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see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how to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make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fr" sz="1200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it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 “</a:t>
                      </a:r>
                      <a:r>
                        <a:rPr lang="fr" sz="1200" strike="sngStrike" dirty="0" err="1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form-friendly</a:t>
                      </a:r>
                      <a:r>
                        <a:rPr lang="fr" sz="1200" dirty="0">
                          <a:solidFill>
                            <a:schemeClr val="lt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”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endParaRPr sz="1200" b="1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endParaRPr sz="1200" b="1" dirty="0">
                        <a:solidFill>
                          <a:schemeClr val="accen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" name="Google Shape;120;p18"/>
          <p:cNvSpPr txBox="1">
            <a:spLocks noGrp="1"/>
          </p:cNvSpPr>
          <p:nvPr>
            <p:ph type="body" idx="4294967295"/>
          </p:nvPr>
        </p:nvSpPr>
        <p:spPr>
          <a:xfrm>
            <a:off x="425575" y="63650"/>
            <a:ext cx="23265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 dirty="0">
                <a:solidFill>
                  <a:schemeClr val="dk2"/>
                </a:solidFill>
              </a:rPr>
              <a:t>Introduction</a:t>
            </a:r>
            <a:endParaRPr sz="17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dirty="0"/>
              <a:t>(</a:t>
            </a:r>
            <a:r>
              <a:rPr lang="fr" sz="1300" dirty="0" err="1"/>
              <a:t>see</a:t>
            </a:r>
            <a:r>
              <a:rPr lang="fr" sz="1300" dirty="0"/>
              <a:t> </a:t>
            </a:r>
            <a:r>
              <a:rPr lang="fr" sz="1200" dirty="0" err="1">
                <a:solidFill>
                  <a:schemeClr val="dk1"/>
                </a:solidFill>
              </a:rPr>
              <a:t>Theoretical</a:t>
            </a:r>
            <a:r>
              <a:rPr lang="fr" sz="1200" dirty="0">
                <a:solidFill>
                  <a:schemeClr val="dk1"/>
                </a:solidFill>
              </a:rPr>
              <a:t> Background</a:t>
            </a:r>
            <a:r>
              <a:rPr lang="fr" sz="1300" dirty="0"/>
              <a:t>)</a:t>
            </a:r>
            <a:br>
              <a:rPr lang="fr" sz="1300" dirty="0"/>
            </a:br>
            <a:r>
              <a:rPr lang="fr" sz="1300" dirty="0"/>
              <a:t>RDF, SHACL, RML</a:t>
            </a:r>
            <a:endParaRPr sz="13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 dirty="0"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4294967295"/>
          </p:nvPr>
        </p:nvSpPr>
        <p:spPr>
          <a:xfrm>
            <a:off x="451175" y="3462935"/>
            <a:ext cx="26622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 dirty="0">
                <a:solidFill>
                  <a:schemeClr val="accent1"/>
                </a:solidFill>
              </a:rPr>
              <a:t>Objective 1:</a:t>
            </a:r>
            <a:endParaRPr sz="1200" b="1" u="sng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/>
              <a:t>Design a </a:t>
            </a:r>
            <a:r>
              <a:rPr lang="fr" sz="1200" dirty="0" err="1"/>
              <a:t>shape</a:t>
            </a:r>
            <a:r>
              <a:rPr lang="fr" sz="1200" dirty="0"/>
              <a:t> for RML, </a:t>
            </a:r>
            <a:r>
              <a:rPr lang="fr" sz="1200" i="1" strike="sngStrike" dirty="0" err="1"/>
              <a:t>suitable</a:t>
            </a:r>
            <a:r>
              <a:rPr lang="fr" sz="1200" dirty="0"/>
              <a:t> for a </a:t>
            </a:r>
            <a:r>
              <a:rPr lang="fr" sz="1200" dirty="0" err="1"/>
              <a:t>form</a:t>
            </a:r>
            <a:r>
              <a:rPr lang="fr" sz="1200" dirty="0"/>
              <a:t>. </a:t>
            </a:r>
            <a:r>
              <a:rPr lang="fr" sz="1000" dirty="0"/>
              <a:t>(</a:t>
            </a:r>
            <a:r>
              <a:rPr lang="fr" sz="1000" dirty="0" err="1"/>
              <a:t>Define</a:t>
            </a:r>
            <a:r>
              <a:rPr lang="fr" sz="1000" dirty="0"/>
              <a:t> </a:t>
            </a:r>
            <a:r>
              <a:rPr lang="fr" sz="1000" dirty="0" err="1"/>
              <a:t>what</a:t>
            </a:r>
            <a:r>
              <a:rPr lang="fr" sz="1000" dirty="0"/>
              <a:t> </a:t>
            </a:r>
            <a:r>
              <a:rPr lang="fr" sz="1000" dirty="0" err="1"/>
              <a:t>that</a:t>
            </a:r>
            <a:r>
              <a:rPr lang="fr" sz="1000" dirty="0"/>
              <a:t> </a:t>
            </a:r>
            <a:r>
              <a:rPr lang="fr" sz="1000" dirty="0" err="1"/>
              <a:t>means</a:t>
            </a:r>
            <a:r>
              <a:rPr lang="fr" sz="1000" dirty="0"/>
              <a:t>)</a:t>
            </a:r>
            <a:endParaRPr sz="10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 dirty="0" err="1">
                <a:solidFill>
                  <a:schemeClr val="accent1"/>
                </a:solidFill>
              </a:rPr>
              <a:t>Proposal</a:t>
            </a:r>
            <a:r>
              <a:rPr lang="fr" sz="1200" b="1" dirty="0">
                <a:solidFill>
                  <a:schemeClr val="accent1"/>
                </a:solidFill>
              </a:rPr>
              <a:t>:</a:t>
            </a:r>
            <a:endParaRPr sz="1200" b="1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 err="1"/>
              <a:t>Simplify</a:t>
            </a:r>
            <a:r>
              <a:rPr lang="fr" sz="1200" dirty="0"/>
              <a:t> the RML-</a:t>
            </a:r>
            <a:r>
              <a:rPr lang="fr" sz="1200" dirty="0" err="1"/>
              <a:t>core</a:t>
            </a:r>
            <a:r>
              <a:rPr lang="fr" sz="1200" dirty="0"/>
              <a:t> </a:t>
            </a:r>
            <a:r>
              <a:rPr lang="fr" sz="1200" dirty="0" err="1"/>
              <a:t>shapes</a:t>
            </a:r>
            <a:r>
              <a:rPr lang="fr" sz="1200" dirty="0"/>
              <a:t> </a:t>
            </a:r>
            <a:r>
              <a:rPr lang="fr" sz="1200" dirty="0" err="1"/>
              <a:t>given</a:t>
            </a:r>
            <a:r>
              <a:rPr lang="fr" sz="1200" dirty="0"/>
              <a:t> by kg-</a:t>
            </a:r>
            <a:r>
              <a:rPr lang="fr" sz="1200" dirty="0" err="1"/>
              <a:t>construct</a:t>
            </a:r>
            <a:endParaRPr sz="12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 dirty="0"/>
          </a:p>
        </p:txBody>
      </p:sp>
      <p:sp>
        <p:nvSpPr>
          <p:cNvPr id="122" name="Google Shape;122;p18"/>
          <p:cNvSpPr txBox="1">
            <a:spLocks noGrp="1"/>
          </p:cNvSpPr>
          <p:nvPr>
            <p:ph type="body" idx="4294967295"/>
          </p:nvPr>
        </p:nvSpPr>
        <p:spPr>
          <a:xfrm>
            <a:off x="3436737" y="63657"/>
            <a:ext cx="2662200" cy="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 dirty="0" err="1">
                <a:solidFill>
                  <a:schemeClr val="dk2"/>
                </a:solidFill>
              </a:rPr>
              <a:t>Problem</a:t>
            </a:r>
            <a:endParaRPr sz="13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700" dirty="0"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4294967295"/>
          </p:nvPr>
        </p:nvSpPr>
        <p:spPr>
          <a:xfrm>
            <a:off x="6034700" y="63650"/>
            <a:ext cx="2715900" cy="15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 b="1">
                <a:solidFill>
                  <a:schemeClr val="dk2"/>
                </a:solidFill>
              </a:rPr>
              <a:t>Related Work</a:t>
            </a:r>
            <a:endParaRPr sz="17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(see </a:t>
            </a:r>
            <a:r>
              <a:rPr lang="fr" sz="1200">
                <a:solidFill>
                  <a:schemeClr val="dk1"/>
                </a:solidFill>
              </a:rPr>
              <a:t>State-of-the-art</a:t>
            </a:r>
            <a:r>
              <a:rPr lang="fr" sz="1300"/>
              <a:t>)</a:t>
            </a:r>
            <a:br>
              <a:rPr lang="fr" sz="1300"/>
            </a:br>
            <a:r>
              <a:rPr lang="fr" sz="1300"/>
              <a:t>Existing SHACL forms (Darmstadt, Shaperone, DanielBeeck) -&gt; handles a subset of SHACL</a:t>
            </a:r>
            <a:endParaRPr sz="13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700"/>
          </a:p>
        </p:txBody>
      </p:sp>
      <p:sp>
        <p:nvSpPr>
          <p:cNvPr id="124" name="Google Shape;124;p18"/>
          <p:cNvSpPr/>
          <p:nvPr/>
        </p:nvSpPr>
        <p:spPr>
          <a:xfrm>
            <a:off x="4206098" y="470822"/>
            <a:ext cx="550904" cy="892490"/>
          </a:xfrm>
          <a:prstGeom prst="flowChartInternalStorage">
            <a:avLst/>
          </a:prstGeom>
          <a:solidFill>
            <a:schemeClr val="accent3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2">
                <a:latin typeface="Source Sans Pro"/>
                <a:ea typeface="Source Sans Pro"/>
                <a:cs typeface="Source Sans Pro"/>
                <a:sym typeface="Source Sans Pro"/>
              </a:rPr>
              <a:t>SHACL-</a:t>
            </a:r>
            <a:r>
              <a:rPr lang="fr" sz="1102" b="1">
                <a:latin typeface="Source Sans Pro"/>
                <a:ea typeface="Source Sans Pro"/>
                <a:cs typeface="Source Sans Pro"/>
                <a:sym typeface="Source Sans Pro"/>
              </a:rPr>
              <a:t>form</a:t>
            </a:r>
            <a:endParaRPr sz="1102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928240" y="552659"/>
            <a:ext cx="748500" cy="7287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SHACL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10">
                <a:latin typeface="Source Sans Pro"/>
                <a:ea typeface="Source Sans Pro"/>
                <a:cs typeface="Source Sans Pro"/>
                <a:sym typeface="Source Sans Pro"/>
              </a:rPr>
              <a:t>shapes</a:t>
            </a:r>
            <a:endParaRPr sz="9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6" name="Google Shape;126;p18"/>
          <p:cNvCxnSpPr>
            <a:stCxn id="125" idx="3"/>
            <a:endCxn id="124" idx="1"/>
          </p:cNvCxnSpPr>
          <p:nvPr/>
        </p:nvCxnSpPr>
        <p:spPr>
          <a:xfrm>
            <a:off x="3585652" y="917009"/>
            <a:ext cx="620400" cy="0"/>
          </a:xfrm>
          <a:prstGeom prst="straightConnector1">
            <a:avLst/>
          </a:prstGeom>
          <a:noFill/>
          <a:ln w="87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18"/>
          <p:cNvSpPr txBox="1"/>
          <p:nvPr/>
        </p:nvSpPr>
        <p:spPr>
          <a:xfrm>
            <a:off x="3736230" y="636243"/>
            <a:ext cx="175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83975" rIns="83975" bIns="83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36" b="1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sz="1836" b="1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039627" y="634496"/>
            <a:ext cx="550800" cy="565200"/>
          </a:xfrm>
          <a:prstGeom prst="verticalScroll">
            <a:avLst>
              <a:gd name="adj" fmla="val 12500"/>
            </a:avLst>
          </a:prstGeom>
          <a:solidFill>
            <a:schemeClr val="lt1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RDF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10">
                <a:latin typeface="Source Sans Pro"/>
                <a:ea typeface="Source Sans Pro"/>
                <a:cs typeface="Source Sans Pro"/>
                <a:sym typeface="Source Sans Pro"/>
              </a:rPr>
              <a:t>graph</a:t>
            </a:r>
            <a:endParaRPr sz="7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9" name="Google Shape;129;p18"/>
          <p:cNvCxnSpPr>
            <a:stCxn id="124" idx="3"/>
            <a:endCxn id="128" idx="1"/>
          </p:cNvCxnSpPr>
          <p:nvPr/>
        </p:nvCxnSpPr>
        <p:spPr>
          <a:xfrm>
            <a:off x="4757002" y="917067"/>
            <a:ext cx="351600" cy="0"/>
          </a:xfrm>
          <a:prstGeom prst="straightConnector1">
            <a:avLst/>
          </a:prstGeom>
          <a:noFill/>
          <a:ln w="87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0" name="Google Shape;130;p18"/>
          <p:cNvSpPr txBox="1">
            <a:spLocks noGrp="1"/>
          </p:cNvSpPr>
          <p:nvPr>
            <p:ph type="body" idx="4294967295"/>
          </p:nvPr>
        </p:nvSpPr>
        <p:spPr>
          <a:xfrm>
            <a:off x="502150" y="1513531"/>
            <a:ext cx="8248500" cy="654000"/>
          </a:xfrm>
          <a:prstGeom prst="rect">
            <a:avLst/>
          </a:prstGeom>
          <a:solidFill>
            <a:srgbClr val="D9D9D9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 err="1">
                <a:solidFill>
                  <a:schemeClr val="dk2"/>
                </a:solidFill>
              </a:rPr>
              <a:t>Research</a:t>
            </a:r>
            <a:r>
              <a:rPr lang="fr" b="1" dirty="0">
                <a:solidFill>
                  <a:schemeClr val="dk2"/>
                </a:solidFill>
              </a:rPr>
              <a:t> question</a:t>
            </a:r>
            <a:endParaRPr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 dirty="0">
                <a:solidFill>
                  <a:srgbClr val="CC0000"/>
                </a:solidFill>
              </a:rPr>
              <a:t>How can </a:t>
            </a:r>
            <a:r>
              <a:rPr lang="fr" sz="1400" dirty="0" err="1">
                <a:solidFill>
                  <a:srgbClr val="CC0000"/>
                </a:solidFill>
              </a:rPr>
              <a:t>we</a:t>
            </a:r>
            <a:r>
              <a:rPr lang="fr" sz="1400" dirty="0">
                <a:solidFill>
                  <a:srgbClr val="CC0000"/>
                </a:solidFill>
              </a:rPr>
              <a:t> </a:t>
            </a:r>
            <a:r>
              <a:rPr lang="fr" sz="1400" dirty="0" err="1">
                <a:solidFill>
                  <a:srgbClr val="CC0000"/>
                </a:solidFill>
              </a:rPr>
              <a:t>conceptualize</a:t>
            </a:r>
            <a:r>
              <a:rPr lang="fr" sz="1400" dirty="0">
                <a:solidFill>
                  <a:srgbClr val="CC0000"/>
                </a:solidFill>
              </a:rPr>
              <a:t> </a:t>
            </a:r>
            <a:r>
              <a:rPr lang="fr" sz="1400" strike="sngStrike" dirty="0" err="1">
                <a:solidFill>
                  <a:srgbClr val="CC0000"/>
                </a:solidFill>
              </a:rPr>
              <a:t>form-friendly</a:t>
            </a:r>
            <a:r>
              <a:rPr lang="fr" sz="1400" dirty="0">
                <a:solidFill>
                  <a:srgbClr val="CC0000"/>
                </a:solidFill>
              </a:rPr>
              <a:t> SHACL </a:t>
            </a:r>
            <a:r>
              <a:rPr lang="fr" sz="1400" dirty="0" err="1">
                <a:solidFill>
                  <a:srgbClr val="CC0000"/>
                </a:solidFill>
              </a:rPr>
              <a:t>shapes</a:t>
            </a:r>
            <a:r>
              <a:rPr lang="fr" sz="1400" dirty="0">
                <a:solidFill>
                  <a:srgbClr val="CC0000"/>
                </a:solidFill>
              </a:rPr>
              <a:t>  for </a:t>
            </a:r>
            <a:r>
              <a:rPr lang="fr" sz="1400" dirty="0" err="1">
                <a:solidFill>
                  <a:srgbClr val="CC0000"/>
                </a:solidFill>
              </a:rPr>
              <a:t>complex</a:t>
            </a:r>
            <a:r>
              <a:rPr lang="fr" sz="1400" dirty="0">
                <a:solidFill>
                  <a:srgbClr val="CC0000"/>
                </a:solidFill>
              </a:rPr>
              <a:t> </a:t>
            </a:r>
            <a:r>
              <a:rPr lang="fr" sz="1400" dirty="0" err="1">
                <a:solidFill>
                  <a:srgbClr val="CC0000"/>
                </a:solidFill>
              </a:rPr>
              <a:t>domains</a:t>
            </a:r>
            <a:r>
              <a:rPr lang="fr" sz="1400" dirty="0">
                <a:solidFill>
                  <a:srgbClr val="CC0000"/>
                </a:solidFill>
              </a:rPr>
              <a:t> </a:t>
            </a:r>
            <a:r>
              <a:rPr lang="fr" sz="1400" dirty="0" err="1">
                <a:solidFill>
                  <a:srgbClr val="CC0000"/>
                </a:solidFill>
              </a:rPr>
              <a:t>such</a:t>
            </a:r>
            <a:r>
              <a:rPr lang="fr" sz="1400" dirty="0">
                <a:solidFill>
                  <a:srgbClr val="CC0000"/>
                </a:solidFill>
              </a:rPr>
              <a:t> as RML?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4294967295"/>
          </p:nvPr>
        </p:nvSpPr>
        <p:spPr>
          <a:xfrm>
            <a:off x="3234925" y="3462950"/>
            <a:ext cx="27159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 dirty="0">
                <a:solidFill>
                  <a:schemeClr val="accent1"/>
                </a:solidFill>
              </a:rPr>
              <a:t>Objective 2:</a:t>
            </a:r>
            <a:endParaRPr sz="1200" b="1" u="sng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 err="1"/>
              <a:t>Conceptualize</a:t>
            </a:r>
            <a:r>
              <a:rPr lang="fr" sz="1200" dirty="0"/>
              <a:t> the </a:t>
            </a:r>
            <a:r>
              <a:rPr lang="fr" sz="1200" dirty="0" err="1"/>
              <a:t>form</a:t>
            </a:r>
            <a:r>
              <a:rPr lang="fr" sz="1200" dirty="0"/>
              <a:t> for RML. </a:t>
            </a:r>
            <a:endParaRPr sz="10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 dirty="0" err="1">
                <a:solidFill>
                  <a:schemeClr val="accent1"/>
                </a:solidFill>
              </a:rPr>
              <a:t>Proposal</a:t>
            </a:r>
            <a:r>
              <a:rPr lang="fr" sz="1200" b="1" dirty="0">
                <a:solidFill>
                  <a:schemeClr val="accent1"/>
                </a:solidFill>
              </a:rPr>
              <a:t>:</a:t>
            </a:r>
            <a:endParaRPr sz="1200" b="1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 err="1"/>
              <a:t>From</a:t>
            </a:r>
            <a:r>
              <a:rPr lang="fr" sz="1200" dirty="0"/>
              <a:t> the state-of-the-art, compare </a:t>
            </a:r>
            <a:r>
              <a:rPr lang="fr" sz="1200" dirty="0" err="1"/>
              <a:t>which</a:t>
            </a:r>
            <a:r>
              <a:rPr lang="fr" sz="1200" dirty="0"/>
              <a:t> one has best </a:t>
            </a:r>
            <a:r>
              <a:rPr lang="fr" sz="1200" dirty="0" err="1"/>
              <a:t>potential</a:t>
            </a:r>
            <a:r>
              <a:rPr lang="fr" sz="1200" dirty="0"/>
              <a:t> for </a:t>
            </a:r>
            <a:r>
              <a:rPr lang="fr" sz="1200" dirty="0" err="1"/>
              <a:t>my</a:t>
            </a:r>
            <a:r>
              <a:rPr lang="fr" sz="1200" dirty="0"/>
              <a:t> use-case by listing (</a:t>
            </a:r>
            <a:r>
              <a:rPr lang="fr" sz="1200" dirty="0" err="1"/>
              <a:t>necessary</a:t>
            </a:r>
            <a:r>
              <a:rPr lang="fr" sz="1200" dirty="0"/>
              <a:t>) </a:t>
            </a:r>
            <a:r>
              <a:rPr lang="fr" sz="1200" dirty="0" err="1"/>
              <a:t>features</a:t>
            </a:r>
            <a:endParaRPr sz="12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 dirty="0"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4294967295"/>
          </p:nvPr>
        </p:nvSpPr>
        <p:spPr>
          <a:xfrm>
            <a:off x="6072375" y="3462925"/>
            <a:ext cx="2715900" cy="1476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u="sng" dirty="0">
                <a:solidFill>
                  <a:schemeClr val="accent1"/>
                </a:solidFill>
              </a:rPr>
              <a:t>Objective 3:</a:t>
            </a:r>
            <a:endParaRPr sz="1200" b="1" u="sng" dirty="0">
              <a:solidFill>
                <a:schemeClr val="accent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/>
              <a:t>Pour aller plus loin.. </a:t>
            </a:r>
            <a:r>
              <a:rPr lang="fr" sz="1200" dirty="0" err="1"/>
              <a:t>Implement</a:t>
            </a:r>
            <a:r>
              <a:rPr lang="fr" sz="1200" dirty="0"/>
              <a:t> </a:t>
            </a:r>
            <a:r>
              <a:rPr lang="fr" sz="1200" dirty="0" err="1"/>
              <a:t>reusable</a:t>
            </a:r>
            <a:r>
              <a:rPr lang="fr" sz="1200" dirty="0"/>
              <a:t> </a:t>
            </a:r>
            <a:r>
              <a:rPr lang="fr" sz="1200" dirty="0" err="1"/>
              <a:t>nodes</a:t>
            </a:r>
            <a:r>
              <a:rPr lang="fr" sz="1200" dirty="0"/>
              <a:t> in the </a:t>
            </a:r>
            <a:r>
              <a:rPr lang="fr" sz="1200" dirty="0" err="1"/>
              <a:t>form</a:t>
            </a:r>
            <a:endParaRPr sz="10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b="1" dirty="0" err="1">
                <a:solidFill>
                  <a:schemeClr val="accent1"/>
                </a:solidFill>
              </a:rPr>
              <a:t>Proposal</a:t>
            </a:r>
            <a:r>
              <a:rPr lang="fr" sz="1200" b="1" dirty="0">
                <a:solidFill>
                  <a:schemeClr val="accent1"/>
                </a:solidFill>
              </a:rPr>
              <a:t>:</a:t>
            </a:r>
            <a:endParaRPr sz="12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" sz="1200" dirty="0" err="1"/>
              <a:t>Make</a:t>
            </a:r>
            <a:r>
              <a:rPr lang="fr" sz="1200" dirty="0"/>
              <a:t> use of </a:t>
            </a:r>
            <a:r>
              <a:rPr lang="fr" sz="1200" dirty="0" err="1"/>
              <a:t>existing</a:t>
            </a:r>
            <a:r>
              <a:rPr lang="fr" sz="1200" dirty="0"/>
              <a:t> </a:t>
            </a:r>
            <a:r>
              <a:rPr lang="fr" sz="1200" dirty="0" err="1"/>
              <a:t>feature</a:t>
            </a:r>
            <a:r>
              <a:rPr lang="fr" sz="1200" dirty="0"/>
              <a:t> of the </a:t>
            </a:r>
            <a:r>
              <a:rPr lang="fr" sz="1200" dirty="0" err="1"/>
              <a:t>selected</a:t>
            </a:r>
            <a:r>
              <a:rPr lang="fr" sz="1200" dirty="0"/>
              <a:t> state-of-the-art.</a:t>
            </a:r>
            <a:endParaRPr sz="1200" dirty="0"/>
          </a:p>
          <a:p>
            <a:pPr marL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455025" y="350200"/>
            <a:ext cx="6074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err="1"/>
              <a:t>What</a:t>
            </a:r>
            <a:r>
              <a:rPr lang="fr" dirty="0"/>
              <a:t> about the </a:t>
            </a:r>
            <a:r>
              <a:rPr lang="fr" dirty="0" err="1"/>
              <a:t>research</a:t>
            </a:r>
            <a:r>
              <a:rPr lang="fr" dirty="0"/>
              <a:t> question ?</a:t>
            </a:r>
            <a:br>
              <a:rPr lang="fr" dirty="0"/>
            </a:br>
            <a:r>
              <a:rPr lang="fr" sz="3200" dirty="0"/>
              <a:t>(</a:t>
            </a:r>
            <a:r>
              <a:rPr lang="fr" sz="3200" dirty="0" err="1"/>
              <a:t>again</a:t>
            </a:r>
            <a:r>
              <a:rPr lang="fr" sz="3200" dirty="0"/>
              <a:t>)</a:t>
            </a:r>
            <a:endParaRPr sz="3200" dirty="0"/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2734725" y="3361600"/>
            <a:ext cx="5309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accent6"/>
                </a:solidFill>
              </a:rPr>
              <a:t>idea: from the state-of-the-art,</a:t>
            </a:r>
            <a:endParaRPr sz="2400"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➔"/>
            </a:pPr>
            <a:r>
              <a:rPr lang="fr" sz="2400">
                <a:solidFill>
                  <a:schemeClr val="accent6"/>
                </a:solidFill>
              </a:rPr>
              <a:t>see what’s missing</a:t>
            </a:r>
            <a:endParaRPr sz="2400">
              <a:solidFill>
                <a:schemeClr val="accent6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➔"/>
            </a:pPr>
            <a:r>
              <a:rPr lang="fr" sz="2400">
                <a:solidFill>
                  <a:schemeClr val="accent6"/>
                </a:solidFill>
              </a:rPr>
              <a:t>see what are the problems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2" name="Google Shape;87;p15">
            <a:extLst>
              <a:ext uri="{FF2B5EF4-FFF2-40B4-BE49-F238E27FC236}">
                <a16:creationId xmlns:a16="http://schemas.microsoft.com/office/drawing/2014/main" id="{8C6199B0-43A9-BA5E-95A9-F9F95C9BC17D}"/>
              </a:ext>
            </a:extLst>
          </p:cNvPr>
          <p:cNvSpPr/>
          <p:nvPr/>
        </p:nvSpPr>
        <p:spPr>
          <a:xfrm rot="-5397975">
            <a:off x="1010925" y="3566842"/>
            <a:ext cx="509400" cy="3312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" name="Google Shape;88;p15">
            <a:extLst>
              <a:ext uri="{FF2B5EF4-FFF2-40B4-BE49-F238E27FC236}">
                <a16:creationId xmlns:a16="http://schemas.microsoft.com/office/drawing/2014/main" id="{D5A42E38-A1E1-3A3B-75D1-F1B6B059C7D4}"/>
              </a:ext>
            </a:extLst>
          </p:cNvPr>
          <p:cNvSpPr txBox="1"/>
          <p:nvPr/>
        </p:nvSpPr>
        <p:spPr>
          <a:xfrm>
            <a:off x="380765" y="3974292"/>
            <a:ext cx="1769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(16. </a:t>
            </a:r>
            <a:r>
              <a:rPr lang="fr" sz="1600" dirty="0" err="1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dec</a:t>
            </a:r>
            <a:r>
              <a:rPr lang="fr" sz="1600" dirty="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2025)</a:t>
            </a:r>
            <a:endParaRPr sz="1600" dirty="0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Main </a:t>
            </a:r>
            <a:r>
              <a:rPr lang="fr-FR" dirty="0" err="1"/>
              <a:t>Core</a:t>
            </a:r>
            <a:r>
              <a:rPr lang="fr-FR" dirty="0"/>
              <a:t> </a:t>
            </a:r>
            <a:r>
              <a:rPr lang="fr-FR" dirty="0" err="1"/>
              <a:t>Problems</a:t>
            </a:r>
            <a:endParaRPr lang="fr-FR" dirty="0"/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fr-FR" dirty="0" err="1">
                <a:solidFill>
                  <a:schemeClr val="bg2"/>
                </a:solidFill>
              </a:rPr>
              <a:t>We</a:t>
            </a:r>
            <a:r>
              <a:rPr lang="fr-FR" dirty="0">
                <a:solidFill>
                  <a:schemeClr val="bg2"/>
                </a:solidFill>
              </a:rPr>
              <a:t> have a </a:t>
            </a:r>
            <a:r>
              <a:rPr lang="fr-FR" dirty="0" err="1">
                <a:solidFill>
                  <a:schemeClr val="bg2"/>
                </a:solidFill>
              </a:rPr>
              <a:t>disconnect</a:t>
            </a:r>
            <a:r>
              <a:rPr lang="fr-FR" dirty="0">
                <a:solidFill>
                  <a:schemeClr val="bg2"/>
                </a:solidFill>
              </a:rPr>
              <a:t> </a:t>
            </a:r>
            <a:r>
              <a:rPr lang="fr-FR" dirty="0" err="1">
                <a:solidFill>
                  <a:schemeClr val="bg2"/>
                </a:solidFill>
              </a:rPr>
              <a:t>between</a:t>
            </a:r>
            <a:r>
              <a:rPr lang="fr-FR" dirty="0">
                <a:solidFill>
                  <a:schemeClr val="bg2"/>
                </a:solidFill>
              </a:rPr>
              <a:t> the </a:t>
            </a:r>
            <a:r>
              <a:rPr lang="fr-FR" dirty="0" err="1">
                <a:solidFill>
                  <a:schemeClr val="bg2"/>
                </a:solidFill>
              </a:rPr>
              <a:t>tool</a:t>
            </a:r>
            <a:r>
              <a:rPr lang="fr-FR" dirty="0">
                <a:solidFill>
                  <a:schemeClr val="bg2"/>
                </a:solidFill>
              </a:rPr>
              <a:t> and the data structure:</a:t>
            </a:r>
          </a:p>
          <a:p>
            <a:pPr>
              <a:buFont typeface="+mj-lt"/>
              <a:buAutoNum type="arabicPeriod"/>
            </a:pPr>
            <a:r>
              <a:rPr lang="fr-FR" b="1" dirty="0">
                <a:solidFill>
                  <a:schemeClr val="tx1"/>
                </a:solidFill>
              </a:rPr>
              <a:t>The "</a:t>
            </a:r>
            <a:r>
              <a:rPr lang="fr-FR" b="1" dirty="0" err="1">
                <a:solidFill>
                  <a:schemeClr val="tx1"/>
                </a:solidFill>
              </a:rPr>
              <a:t>Perfect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Form</a:t>
            </a:r>
            <a:r>
              <a:rPr lang="fr-FR" b="1" dirty="0">
                <a:solidFill>
                  <a:schemeClr val="tx1"/>
                </a:solidFill>
              </a:rPr>
              <a:t>" </a:t>
            </a:r>
            <a:r>
              <a:rPr lang="fr-FR" b="1" dirty="0" err="1">
                <a:solidFill>
                  <a:schemeClr val="tx1"/>
                </a:solidFill>
              </a:rPr>
              <a:t>doesn't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exist</a:t>
            </a:r>
            <a:r>
              <a:rPr lang="fr-FR" b="1" dirty="0">
                <a:solidFill>
                  <a:schemeClr val="tx1"/>
                </a:solidFill>
              </a:rPr>
              <a:t>:</a:t>
            </a:r>
            <a:r>
              <a:rPr lang="fr-FR" dirty="0">
                <a:solidFill>
                  <a:schemeClr val="tx1"/>
                </a:solidFill>
              </a:rPr>
              <a:t> </a:t>
            </a:r>
          </a:p>
          <a:p>
            <a:pPr>
              <a:buFontTx/>
              <a:buChar char="-"/>
            </a:pPr>
            <a:r>
              <a:rPr lang="fr-FR" sz="1600" dirty="0" err="1"/>
              <a:t>Current</a:t>
            </a:r>
            <a:r>
              <a:rPr lang="fr-FR" sz="1600" dirty="0"/>
              <a:t> </a:t>
            </a:r>
            <a:r>
              <a:rPr lang="fr-FR" sz="1600" dirty="0" err="1"/>
              <a:t>tools</a:t>
            </a:r>
            <a:r>
              <a:rPr lang="fr-FR" sz="1600" dirty="0"/>
              <a:t> </a:t>
            </a:r>
            <a:r>
              <a:rPr lang="fr-FR" sz="1600" dirty="0" err="1"/>
              <a:t>handle</a:t>
            </a:r>
            <a:r>
              <a:rPr lang="fr-FR" sz="1600" dirty="0"/>
              <a:t> </a:t>
            </a:r>
            <a:r>
              <a:rPr lang="fr-FR" sz="1600" dirty="0" err="1"/>
              <a:t>subsets</a:t>
            </a:r>
            <a:r>
              <a:rPr lang="fr-FR" sz="1600" dirty="0"/>
              <a:t> of SHACL, (not </a:t>
            </a:r>
            <a:r>
              <a:rPr lang="fr-FR" sz="1600" dirty="0" err="1"/>
              <a:t>every</a:t>
            </a:r>
            <a:r>
              <a:rPr lang="fr-FR" sz="1600" dirty="0"/>
              <a:t> sh: </a:t>
            </a:r>
            <a:r>
              <a:rPr lang="fr-FR" sz="1600" dirty="0" err="1"/>
              <a:t>features</a:t>
            </a:r>
            <a:r>
              <a:rPr lang="fr-FR" sz="1600" dirty="0"/>
              <a:t> </a:t>
            </a:r>
            <a:r>
              <a:rPr lang="fr-FR" sz="1600" dirty="0" err="1"/>
              <a:t>handled</a:t>
            </a:r>
            <a:r>
              <a:rPr lang="fr-FR" sz="1600" dirty="0"/>
              <a:t>)</a:t>
            </a:r>
          </a:p>
          <a:p>
            <a:pPr>
              <a:buFontTx/>
              <a:buChar char="-"/>
            </a:pPr>
            <a:r>
              <a:rPr lang="fr-FR" sz="1600" dirty="0" err="1"/>
              <a:t>We</a:t>
            </a:r>
            <a:r>
              <a:rPr lang="fr-FR" sz="1600" dirty="0"/>
              <a:t> </a:t>
            </a:r>
            <a:r>
              <a:rPr lang="fr-FR" sz="1600" dirty="0" err="1"/>
              <a:t>cannot</a:t>
            </a:r>
            <a:r>
              <a:rPr lang="fr-FR" sz="1600" dirty="0"/>
              <a:t> </a:t>
            </a:r>
            <a:r>
              <a:rPr lang="fr-FR" sz="1600" dirty="0" err="1"/>
              <a:t>just</a:t>
            </a:r>
            <a:r>
              <a:rPr lang="fr-FR" sz="1600" dirty="0"/>
              <a:t> "plug and </a:t>
            </a:r>
            <a:r>
              <a:rPr lang="fr-FR" sz="1600" dirty="0" err="1"/>
              <a:t>play</a:t>
            </a:r>
            <a:r>
              <a:rPr lang="fr-FR" sz="1600" dirty="0"/>
              <a:t>" </a:t>
            </a:r>
            <a:r>
              <a:rPr lang="fr-FR" sz="1600" dirty="0" err="1"/>
              <a:t>any</a:t>
            </a:r>
            <a:r>
              <a:rPr lang="fr-FR" sz="1600" dirty="0"/>
              <a:t> </a:t>
            </a:r>
            <a:r>
              <a:rPr lang="fr-FR" sz="1600" dirty="0" err="1"/>
              <a:t>shape</a:t>
            </a:r>
            <a:r>
              <a:rPr lang="fr-FR" sz="1600" dirty="0"/>
              <a:t>. (</a:t>
            </a:r>
            <a:r>
              <a:rPr lang="fr-FR" sz="1600" dirty="0" err="1"/>
              <a:t>too</a:t>
            </a:r>
            <a:r>
              <a:rPr lang="fr-FR" sz="1600" dirty="0"/>
              <a:t> </a:t>
            </a:r>
            <a:r>
              <a:rPr lang="fr-FR" sz="1600" dirty="0" err="1"/>
              <a:t>complex</a:t>
            </a:r>
            <a:r>
              <a:rPr lang="fr-FR" sz="1600" dirty="0"/>
              <a:t> </a:t>
            </a:r>
            <a:r>
              <a:rPr lang="fr-FR" sz="1600" dirty="0" err="1"/>
              <a:t>nested</a:t>
            </a:r>
            <a:r>
              <a:rPr lang="fr-FR" sz="1600" dirty="0"/>
              <a:t> </a:t>
            </a:r>
            <a:r>
              <a:rPr lang="fr-FR" sz="1600" dirty="0" err="1"/>
              <a:t>shapes</a:t>
            </a:r>
            <a:r>
              <a:rPr lang="fr-FR" sz="1600" dirty="0"/>
              <a:t> leads to impossible display for the </a:t>
            </a:r>
            <a:r>
              <a:rPr lang="fr-FR" sz="1600" dirty="0" err="1"/>
              <a:t>form</a:t>
            </a:r>
            <a:r>
              <a:rPr lang="fr-FR" sz="1600" dirty="0"/>
              <a:t>)</a:t>
            </a:r>
          </a:p>
          <a:p>
            <a:pPr>
              <a:buFont typeface="+mj-lt"/>
              <a:buAutoNum type="arabicPeriod" startAt="2"/>
            </a:pPr>
            <a:r>
              <a:rPr lang="fr-FR" b="1" dirty="0" err="1">
                <a:solidFill>
                  <a:schemeClr val="accent3"/>
                </a:solidFill>
              </a:rPr>
              <a:t>Tree</a:t>
            </a:r>
            <a:r>
              <a:rPr lang="fr-FR" b="1" dirty="0">
                <a:solidFill>
                  <a:schemeClr val="accent3"/>
                </a:solidFill>
              </a:rPr>
              <a:t> vs. Graph:</a:t>
            </a:r>
          </a:p>
          <a:p>
            <a:pPr>
              <a:buFontTx/>
              <a:buChar char="-"/>
            </a:pPr>
            <a:r>
              <a:rPr lang="fr-FR" sz="1600" dirty="0"/>
              <a:t>A </a:t>
            </a:r>
            <a:r>
              <a:rPr lang="fr-FR" sz="1600" dirty="0" err="1"/>
              <a:t>form</a:t>
            </a:r>
            <a:r>
              <a:rPr lang="fr-FR" sz="1600" dirty="0"/>
              <a:t> </a:t>
            </a:r>
            <a:r>
              <a:rPr lang="fr-FR" sz="1600" dirty="0" err="1"/>
              <a:t>will</a:t>
            </a:r>
            <a:r>
              <a:rPr lang="fr-FR" sz="1600" dirty="0"/>
              <a:t> </a:t>
            </a:r>
            <a:r>
              <a:rPr lang="fr-FR" sz="1600" dirty="0" err="1"/>
              <a:t>generate</a:t>
            </a:r>
            <a:r>
              <a:rPr lang="fr-FR" sz="1600" dirty="0"/>
              <a:t> a </a:t>
            </a:r>
            <a:r>
              <a:rPr lang="fr-FR" sz="1600" b="1" dirty="0" err="1"/>
              <a:t>Tree</a:t>
            </a:r>
            <a:r>
              <a:rPr lang="fr-FR" sz="1600" dirty="0"/>
              <a:t> (due to HTML </a:t>
            </a:r>
            <a:r>
              <a:rPr lang="fr-FR" sz="1600" dirty="0" err="1"/>
              <a:t>hierarchy</a:t>
            </a:r>
            <a:r>
              <a:rPr lang="fr-FR" sz="1600" dirty="0"/>
              <a:t>/</a:t>
            </a:r>
            <a:r>
              <a:rPr lang="fr-FR" sz="1600" dirty="0" err="1"/>
              <a:t>constraint</a:t>
            </a:r>
            <a:r>
              <a:rPr lang="fr-FR" sz="1600" dirty="0"/>
              <a:t>).</a:t>
            </a:r>
          </a:p>
          <a:p>
            <a:pPr>
              <a:buFontTx/>
              <a:buChar char="-"/>
            </a:pPr>
            <a:r>
              <a:rPr lang="fr-FR" sz="1600" dirty="0"/>
              <a:t>RDF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fundamentally</a:t>
            </a:r>
            <a:r>
              <a:rPr lang="fr-FR" sz="1600" dirty="0"/>
              <a:t> a </a:t>
            </a:r>
            <a:r>
              <a:rPr lang="fr-FR" sz="1600" b="1" dirty="0"/>
              <a:t>Graph</a:t>
            </a:r>
            <a:r>
              <a:rPr lang="fr-FR" sz="1600" dirty="0"/>
              <a:t>, not </a:t>
            </a:r>
            <a:r>
              <a:rPr lang="fr-FR" sz="1600" dirty="0" err="1"/>
              <a:t>just</a:t>
            </a:r>
            <a:r>
              <a:rPr lang="fr-FR" sz="1600" dirty="0"/>
              <a:t> a </a:t>
            </a:r>
            <a:r>
              <a:rPr lang="fr-FR" sz="1600" dirty="0" err="1"/>
              <a:t>Tree</a:t>
            </a:r>
            <a:r>
              <a:rPr lang="fr-FR" sz="1600" dirty="0"/>
              <a:t>.</a:t>
            </a:r>
          </a:p>
          <a:p>
            <a:pPr>
              <a:buFontTx/>
              <a:buChar char="-"/>
            </a:pPr>
            <a:r>
              <a:rPr lang="fr-FR" sz="1600" dirty="0"/>
              <a:t>-&gt; How to deal </a:t>
            </a:r>
            <a:r>
              <a:rPr lang="fr-FR" sz="1600" dirty="0" err="1"/>
              <a:t>with</a:t>
            </a:r>
            <a:r>
              <a:rPr lang="fr-FR" sz="1600" dirty="0"/>
              <a:t> </a:t>
            </a:r>
            <a:r>
              <a:rPr lang="fr-FR" sz="1600" dirty="0" err="1"/>
              <a:t>it</a:t>
            </a:r>
            <a:r>
              <a:rPr lang="fr-FR" sz="1600" dirty="0"/>
              <a:t>? </a:t>
            </a:r>
            <a:r>
              <a:rPr lang="fr-FR" sz="1600" dirty="0" err="1"/>
              <a:t>Artificially</a:t>
            </a:r>
            <a:r>
              <a:rPr lang="fr-FR" sz="1600" dirty="0"/>
              <a:t> </a:t>
            </a:r>
            <a:r>
              <a:rPr lang="fr-FR" sz="1600" dirty="0" err="1"/>
              <a:t>modifiy</a:t>
            </a:r>
            <a:r>
              <a:rPr lang="fr-FR" sz="1600" dirty="0"/>
              <a:t> the </a:t>
            </a:r>
            <a:r>
              <a:rPr lang="fr-FR" sz="1600" dirty="0" err="1"/>
              <a:t>shape</a:t>
            </a:r>
            <a:r>
              <a:rPr lang="fr-FR" sz="1600" dirty="0"/>
              <a:t> by </a:t>
            </a:r>
            <a:r>
              <a:rPr lang="fr-FR" sz="1600" dirty="0" err="1"/>
              <a:t>adding</a:t>
            </a:r>
            <a:r>
              <a:rPr lang="fr-FR" sz="1600" dirty="0"/>
              <a:t> </a:t>
            </a:r>
            <a:r>
              <a:rPr lang="fr-FR" sz="1600" dirty="0" err="1"/>
              <a:t>nodes</a:t>
            </a:r>
            <a:r>
              <a:rPr lang="fr-FR" sz="1600" dirty="0"/>
              <a:t> </a:t>
            </a:r>
            <a:r>
              <a:rPr lang="fr-FR" sz="1600" dirty="0" err="1"/>
              <a:t>outside</a:t>
            </a:r>
            <a:r>
              <a:rPr lang="fr-FR" sz="1600" dirty="0"/>
              <a:t> of the </a:t>
            </a:r>
            <a:r>
              <a:rPr lang="fr-FR" sz="1600" dirty="0" err="1"/>
              <a:t>namespace</a:t>
            </a:r>
            <a:r>
              <a:rPr lang="fr-FR" sz="1600" dirty="0"/>
              <a:t>? </a:t>
            </a:r>
          </a:p>
        </p:txBody>
      </p:sp>
      <p:sp>
        <p:nvSpPr>
          <p:cNvPr id="9" name="Google Shape;118;p18">
            <a:extLst>
              <a:ext uri="{FF2B5EF4-FFF2-40B4-BE49-F238E27FC236}">
                <a16:creationId xmlns:a16="http://schemas.microsoft.com/office/drawing/2014/main" id="{5C607657-CF29-3FFE-E673-1B214B32218A}"/>
              </a:ext>
            </a:extLst>
          </p:cNvPr>
          <p:cNvSpPr/>
          <p:nvPr/>
        </p:nvSpPr>
        <p:spPr>
          <a:xfrm>
            <a:off x="6127225" y="119250"/>
            <a:ext cx="1642500" cy="1005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Google Shape;124;p18">
            <a:extLst>
              <a:ext uri="{FF2B5EF4-FFF2-40B4-BE49-F238E27FC236}">
                <a16:creationId xmlns:a16="http://schemas.microsoft.com/office/drawing/2014/main" id="{41BB0D13-5545-C147-19AF-637ED2E02FDD}"/>
              </a:ext>
            </a:extLst>
          </p:cNvPr>
          <p:cNvSpPr/>
          <p:nvPr/>
        </p:nvSpPr>
        <p:spPr>
          <a:xfrm>
            <a:off x="6298848" y="175935"/>
            <a:ext cx="550904" cy="892490"/>
          </a:xfrm>
          <a:prstGeom prst="flowChartInternalStorage">
            <a:avLst/>
          </a:prstGeom>
          <a:solidFill>
            <a:schemeClr val="accent3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2">
                <a:latin typeface="Source Sans Pro"/>
                <a:ea typeface="Source Sans Pro"/>
                <a:cs typeface="Source Sans Pro"/>
                <a:sym typeface="Source Sans Pro"/>
              </a:rPr>
              <a:t>SHACL-</a:t>
            </a:r>
            <a:r>
              <a:rPr lang="fr" sz="1102" b="1">
                <a:latin typeface="Source Sans Pro"/>
                <a:ea typeface="Source Sans Pro"/>
                <a:cs typeface="Source Sans Pro"/>
                <a:sym typeface="Source Sans Pro"/>
              </a:rPr>
              <a:t>form</a:t>
            </a:r>
            <a:endParaRPr sz="1102" b="1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25;p18">
            <a:extLst>
              <a:ext uri="{FF2B5EF4-FFF2-40B4-BE49-F238E27FC236}">
                <a16:creationId xmlns:a16="http://schemas.microsoft.com/office/drawing/2014/main" id="{78CE9F05-6477-EF17-9C4E-0A4B5EC9567A}"/>
              </a:ext>
            </a:extLst>
          </p:cNvPr>
          <p:cNvSpPr/>
          <p:nvPr/>
        </p:nvSpPr>
        <p:spPr>
          <a:xfrm>
            <a:off x="5020990" y="257772"/>
            <a:ext cx="748500" cy="728700"/>
          </a:xfrm>
          <a:prstGeom prst="verticalScroll">
            <a:avLst>
              <a:gd name="adj" fmla="val 12500"/>
            </a:avLst>
          </a:prstGeom>
          <a:solidFill>
            <a:schemeClr val="lt2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SHACL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10">
                <a:latin typeface="Source Sans Pro"/>
                <a:ea typeface="Source Sans Pro"/>
                <a:cs typeface="Source Sans Pro"/>
                <a:sym typeface="Source Sans Pro"/>
              </a:rPr>
              <a:t>shapes</a:t>
            </a:r>
            <a:endParaRPr sz="9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" name="Google Shape;126;p18">
            <a:extLst>
              <a:ext uri="{FF2B5EF4-FFF2-40B4-BE49-F238E27FC236}">
                <a16:creationId xmlns:a16="http://schemas.microsoft.com/office/drawing/2014/main" id="{6E61E974-0E87-B04E-C964-80DCC510AEA9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5678402" y="622122"/>
            <a:ext cx="620400" cy="0"/>
          </a:xfrm>
          <a:prstGeom prst="straightConnector1">
            <a:avLst/>
          </a:prstGeom>
          <a:noFill/>
          <a:ln w="87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27;p18">
            <a:extLst>
              <a:ext uri="{FF2B5EF4-FFF2-40B4-BE49-F238E27FC236}">
                <a16:creationId xmlns:a16="http://schemas.microsoft.com/office/drawing/2014/main" id="{A259533D-8C1B-71C4-9C55-E48DEDE550A7}"/>
              </a:ext>
            </a:extLst>
          </p:cNvPr>
          <p:cNvSpPr txBox="1"/>
          <p:nvPr/>
        </p:nvSpPr>
        <p:spPr>
          <a:xfrm>
            <a:off x="5828980" y="341356"/>
            <a:ext cx="175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975" tIns="83975" rIns="83975" bIns="839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36" b="1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?</a:t>
            </a:r>
            <a:endParaRPr sz="1836" b="1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" name="Google Shape;128;p18">
            <a:extLst>
              <a:ext uri="{FF2B5EF4-FFF2-40B4-BE49-F238E27FC236}">
                <a16:creationId xmlns:a16="http://schemas.microsoft.com/office/drawing/2014/main" id="{A7040D76-63BF-8EA9-4A1E-A63CBB7D8BE3}"/>
              </a:ext>
            </a:extLst>
          </p:cNvPr>
          <p:cNvSpPr/>
          <p:nvPr/>
        </p:nvSpPr>
        <p:spPr>
          <a:xfrm>
            <a:off x="7132377" y="339609"/>
            <a:ext cx="550800" cy="565200"/>
          </a:xfrm>
          <a:prstGeom prst="verticalScroll">
            <a:avLst>
              <a:gd name="adj" fmla="val 12500"/>
            </a:avLst>
          </a:prstGeom>
          <a:solidFill>
            <a:schemeClr val="lt1"/>
          </a:solidFill>
          <a:ln w="87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975" tIns="83975" rIns="83975" bIns="839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10" b="1">
                <a:latin typeface="Source Sans Pro"/>
                <a:ea typeface="Source Sans Pro"/>
                <a:cs typeface="Source Sans Pro"/>
                <a:sym typeface="Source Sans Pro"/>
              </a:rPr>
              <a:t>RDF</a:t>
            </a:r>
            <a:endParaRPr sz="1010" b="1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10">
                <a:latin typeface="Source Sans Pro"/>
                <a:ea typeface="Source Sans Pro"/>
                <a:cs typeface="Source Sans Pro"/>
                <a:sym typeface="Source Sans Pro"/>
              </a:rPr>
              <a:t>graph</a:t>
            </a:r>
            <a:endParaRPr sz="71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5" name="Google Shape;129;p18">
            <a:extLst>
              <a:ext uri="{FF2B5EF4-FFF2-40B4-BE49-F238E27FC236}">
                <a16:creationId xmlns:a16="http://schemas.microsoft.com/office/drawing/2014/main" id="{87DDCA0E-1659-0E46-3A52-00B62150DAB8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6849752" y="622180"/>
            <a:ext cx="351600" cy="0"/>
          </a:xfrm>
          <a:prstGeom prst="straightConnector1">
            <a:avLst/>
          </a:prstGeom>
          <a:noFill/>
          <a:ln w="87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311700" y="49096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 dirty="0"/>
              <a:t>Evolution of the research question</a:t>
            </a:r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311699" y="662276"/>
            <a:ext cx="7107195" cy="14964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Police système Courant"/>
              <a:buChar char="❌"/>
            </a:pPr>
            <a:r>
              <a:rPr lang="en-GB" sz="1200" noProof="0" dirty="0"/>
              <a:t> </a:t>
            </a:r>
            <a:r>
              <a:rPr lang="en-GB" sz="1200" b="1" noProof="0" dirty="0">
                <a:solidFill>
                  <a:schemeClr val="tx1"/>
                </a:solidFill>
              </a:rPr>
              <a:t>Attempt 1 (Too broad):</a:t>
            </a:r>
            <a:br>
              <a:rPr lang="en-GB" sz="1200" b="1" noProof="0" dirty="0">
                <a:solidFill>
                  <a:schemeClr val="accent3"/>
                </a:solidFill>
              </a:rPr>
            </a:br>
            <a:r>
              <a:rPr lang="en-GB" sz="1200" noProof="0" dirty="0">
                <a:solidFill>
                  <a:schemeClr val="bg2"/>
                </a:solidFill>
              </a:rPr>
              <a:t>"Is it possible to generate a form that handles </a:t>
            </a:r>
            <a:r>
              <a:rPr lang="en-GB" sz="1200" i="1" noProof="0" dirty="0">
                <a:solidFill>
                  <a:schemeClr val="bg2"/>
                </a:solidFill>
              </a:rPr>
              <a:t>any</a:t>
            </a:r>
            <a:r>
              <a:rPr lang="en-GB" sz="1200" noProof="0" dirty="0">
                <a:solidFill>
                  <a:schemeClr val="bg2"/>
                </a:solidFill>
              </a:rPr>
              <a:t> SHACL shape? »</a:t>
            </a:r>
            <a:br>
              <a:rPr lang="en-GB" sz="1200" noProof="0" dirty="0">
                <a:solidFill>
                  <a:schemeClr val="bg2"/>
                </a:solidFill>
              </a:rPr>
            </a:br>
            <a:r>
              <a:rPr lang="en-GB" sz="1200" i="1" noProof="0" dirty="0"/>
              <a:t>Critique:</a:t>
            </a:r>
            <a:r>
              <a:rPr lang="en-GB" sz="1200" noProof="0" dirty="0"/>
              <a:t> Likely unachievable or not specific enough.</a:t>
            </a:r>
          </a:p>
          <a:p>
            <a:pPr>
              <a:buFont typeface="Police système Courant"/>
              <a:buChar char="❌"/>
            </a:pPr>
            <a:r>
              <a:rPr lang="en-GB" sz="1200" noProof="0" dirty="0"/>
              <a:t> </a:t>
            </a:r>
            <a:r>
              <a:rPr lang="en-GB" sz="1200" b="1" noProof="0" dirty="0">
                <a:solidFill>
                  <a:schemeClr val="tx1"/>
                </a:solidFill>
              </a:rPr>
              <a:t>Attempt 2 (Vague):</a:t>
            </a:r>
            <a:br>
              <a:rPr lang="en-GB" sz="1200" b="1" noProof="0" dirty="0">
                <a:solidFill>
                  <a:schemeClr val="accent3"/>
                </a:solidFill>
              </a:rPr>
            </a:br>
            <a:r>
              <a:rPr lang="en-GB" sz="1200" noProof="0" dirty="0">
                <a:solidFill>
                  <a:schemeClr val="bg2"/>
                </a:solidFill>
              </a:rPr>
              <a:t>"How can we conceptualize </a:t>
            </a:r>
            <a:r>
              <a:rPr lang="en-GB" sz="1200" i="1" noProof="0" dirty="0">
                <a:solidFill>
                  <a:schemeClr val="bg2"/>
                </a:solidFill>
              </a:rPr>
              <a:t>form-friendly</a:t>
            </a:r>
            <a:r>
              <a:rPr lang="en-GB" sz="1200" noProof="0" dirty="0">
                <a:solidFill>
                  <a:schemeClr val="bg2"/>
                </a:solidFill>
              </a:rPr>
              <a:t> SHACL shapes for complex domains such as RML? »</a:t>
            </a:r>
            <a:br>
              <a:rPr lang="en-GB" sz="1200" noProof="0" dirty="0">
                <a:solidFill>
                  <a:schemeClr val="bg2"/>
                </a:solidFill>
              </a:rPr>
            </a:br>
            <a:r>
              <a:rPr lang="en-GB" sz="1200" i="1" noProof="0" dirty="0"/>
              <a:t>Critique: </a:t>
            </a:r>
            <a:r>
              <a:rPr lang="en-GB" sz="1200" noProof="0" dirty="0"/>
              <a:t>What does "form-friendly" actually mean?</a:t>
            </a:r>
          </a:p>
        </p:txBody>
      </p:sp>
      <p:sp>
        <p:nvSpPr>
          <p:cNvPr id="2" name="Google Shape;150;p21">
            <a:extLst>
              <a:ext uri="{FF2B5EF4-FFF2-40B4-BE49-F238E27FC236}">
                <a16:creationId xmlns:a16="http://schemas.microsoft.com/office/drawing/2014/main" id="{29B2E5C0-21A1-CF2C-8F38-17E9A7633621}"/>
              </a:ext>
            </a:extLst>
          </p:cNvPr>
          <p:cNvSpPr txBox="1">
            <a:spLocks/>
          </p:cNvSpPr>
          <p:nvPr/>
        </p:nvSpPr>
        <p:spPr>
          <a:xfrm>
            <a:off x="622784" y="2072125"/>
            <a:ext cx="7898432" cy="8784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●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●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urce Sans Pro"/>
              <a:buChar char="○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Source Sans Pro"/>
              <a:buChar char="■"/>
              <a:defRPr sz="12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39700" indent="0">
              <a:buNone/>
            </a:pPr>
            <a:r>
              <a:rPr lang="en-GB" sz="1200" noProof="0" dirty="0"/>
              <a:t> </a:t>
            </a:r>
            <a:r>
              <a:rPr lang="en-GB" sz="1200" b="1" noProof="0" dirty="0">
                <a:solidFill>
                  <a:schemeClr val="tx1"/>
                </a:solidFill>
              </a:rPr>
              <a:t>Attempt 3 (Currently exploring):</a:t>
            </a:r>
          </a:p>
          <a:p>
            <a:pPr marL="139700" indent="0">
              <a:buNone/>
            </a:pPr>
            <a:r>
              <a:rPr lang="en-GB" sz="1200" noProof="0" dirty="0">
                <a:solidFill>
                  <a:schemeClr val="bg2"/>
                </a:solidFill>
              </a:rPr>
              <a:t>Is it possible to create a SHACL form that </a:t>
            </a:r>
            <a:r>
              <a:rPr lang="en-GB" sz="1200" noProof="0" dirty="0">
                <a:solidFill>
                  <a:schemeClr val="bg2"/>
                </a:solidFill>
                <a:highlight>
                  <a:srgbClr val="C0C0C0"/>
                </a:highlight>
              </a:rPr>
              <a:t>facilitates</a:t>
            </a:r>
            <a:r>
              <a:rPr lang="en-GB" sz="1200" noProof="0" dirty="0">
                <a:solidFill>
                  <a:schemeClr val="bg2"/>
                </a:solidFill>
              </a:rPr>
              <a:t> graph creation (not just tree), specifically via the reuse of nodes created within the form?</a:t>
            </a:r>
            <a:br>
              <a:rPr lang="en-GB" sz="1200" b="1" noProof="0" dirty="0">
                <a:solidFill>
                  <a:schemeClr val="accent3"/>
                </a:solidFill>
              </a:rPr>
            </a:br>
            <a:endParaRPr lang="en-GB" sz="1200" noProof="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A2F056-B56A-F364-512C-CFA0C8F9883F}"/>
              </a:ext>
            </a:extLst>
          </p:cNvPr>
          <p:cNvSpPr txBox="1"/>
          <p:nvPr/>
        </p:nvSpPr>
        <p:spPr>
          <a:xfrm>
            <a:off x="622784" y="2771913"/>
            <a:ext cx="372730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1200" b="1" noProof="0" dirty="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Use-case: RML. Why?</a:t>
            </a:r>
          </a:p>
          <a:p>
            <a:pPr marL="457200" lvl="0" indent="-304800">
              <a:spcBef>
                <a:spcPts val="200"/>
              </a:spcBef>
              <a:buClr>
                <a:schemeClr val="lt2"/>
              </a:buClr>
              <a:buSzPts val="1200"/>
              <a:buFont typeface="Source Sans Pro"/>
              <a:buChar char="➔"/>
            </a:pPr>
            <a:r>
              <a:rPr lang="en-GB" sz="1100" noProof="0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 fundamentally a graph, not a tree.</a:t>
            </a:r>
          </a:p>
          <a:p>
            <a:pPr marL="457200" lvl="0" indent="-304800">
              <a:spcBef>
                <a:spcPts val="200"/>
              </a:spcBef>
              <a:buClr>
                <a:schemeClr val="lt2"/>
              </a:buClr>
              <a:buSzPts val="1200"/>
              <a:buFont typeface="Source Sans Pro"/>
              <a:buChar char="➔"/>
            </a:pPr>
            <a:r>
              <a:rPr lang="en-GB" sz="1100" noProof="0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∃ existing official shapes to test limitations of a form</a:t>
            </a:r>
          </a:p>
          <a:p>
            <a:pPr marL="457200" indent="-304800">
              <a:spcBef>
                <a:spcPts val="200"/>
              </a:spcBef>
              <a:buClr>
                <a:schemeClr val="lt2"/>
              </a:buClr>
              <a:buSzPts val="1200"/>
              <a:buFont typeface="Source Sans Pro"/>
              <a:buChar char="➔"/>
            </a:pPr>
            <a:r>
              <a:rPr lang="en-GB" sz="1100" noProof="0" dirty="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Complex and useful RDF graph</a:t>
            </a:r>
            <a:endParaRPr lang="en-GB" sz="1100" noProof="0" dirty="0"/>
          </a:p>
          <a:p>
            <a:endParaRPr lang="en-GB" sz="1200" noProof="0" dirty="0"/>
          </a:p>
        </p:txBody>
      </p:sp>
      <p:sp>
        <p:nvSpPr>
          <p:cNvPr id="7" name="Google Shape;121;p18">
            <a:extLst>
              <a:ext uri="{FF2B5EF4-FFF2-40B4-BE49-F238E27FC236}">
                <a16:creationId xmlns:a16="http://schemas.microsoft.com/office/drawing/2014/main" id="{000166B8-FC8A-74F3-B323-1B0D9B83B428}"/>
              </a:ext>
            </a:extLst>
          </p:cNvPr>
          <p:cNvSpPr txBox="1">
            <a:spLocks/>
          </p:cNvSpPr>
          <p:nvPr/>
        </p:nvSpPr>
        <p:spPr>
          <a:xfrm>
            <a:off x="451175" y="3774026"/>
            <a:ext cx="2662200" cy="11373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GB" sz="1200" b="1" noProof="0" dirty="0">
                <a:solidFill>
                  <a:schemeClr val="bg2"/>
                </a:solidFill>
              </a:rPr>
              <a:t>Create Shapes &amp; Form: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200" noProof="0" dirty="0"/>
              <a:t>Simplify RML-core shapes (from kg-construct) to be suitable for a form</a:t>
            </a:r>
          </a:p>
        </p:txBody>
      </p:sp>
      <p:sp>
        <p:nvSpPr>
          <p:cNvPr id="8" name="Google Shape;131;p18">
            <a:extLst>
              <a:ext uri="{FF2B5EF4-FFF2-40B4-BE49-F238E27FC236}">
                <a16:creationId xmlns:a16="http://schemas.microsoft.com/office/drawing/2014/main" id="{6DA20BE8-69F6-5D80-E2DB-FC9AC34D2C3D}"/>
              </a:ext>
            </a:extLst>
          </p:cNvPr>
          <p:cNvSpPr txBox="1">
            <a:spLocks/>
          </p:cNvSpPr>
          <p:nvPr/>
        </p:nvSpPr>
        <p:spPr>
          <a:xfrm>
            <a:off x="3234925" y="3774041"/>
            <a:ext cx="2715900" cy="11373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GB" sz="1200" b="1" noProof="0" dirty="0">
                <a:solidFill>
                  <a:schemeClr val="bg2"/>
                </a:solidFill>
              </a:rPr>
              <a:t>Conceptualize Tree-&gt; Graph: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200" noProof="0" dirty="0"/>
              <a:t>Enable the possibility to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200" noProof="0" dirty="0"/>
              <a:t>- Create multiple nodes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200" noProof="0" dirty="0"/>
              <a:t>- Reuse nodes created elsewhere in the form (bridging the tree-graph gap)</a:t>
            </a:r>
          </a:p>
        </p:txBody>
      </p:sp>
      <p:sp>
        <p:nvSpPr>
          <p:cNvPr id="9" name="Google Shape;132;p18">
            <a:extLst>
              <a:ext uri="{FF2B5EF4-FFF2-40B4-BE49-F238E27FC236}">
                <a16:creationId xmlns:a16="http://schemas.microsoft.com/office/drawing/2014/main" id="{EE9BE65F-2E85-6696-6A7C-258755EB5E1E}"/>
              </a:ext>
            </a:extLst>
          </p:cNvPr>
          <p:cNvSpPr txBox="1">
            <a:spLocks/>
          </p:cNvSpPr>
          <p:nvPr/>
        </p:nvSpPr>
        <p:spPr>
          <a:xfrm>
            <a:off x="6072375" y="3774016"/>
            <a:ext cx="2715900" cy="11373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 sz="1400" b="0" i="0" u="none" strike="noStrik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just">
              <a:lnSpc>
                <a:spcPct val="100000"/>
              </a:lnSpc>
              <a:buFont typeface="Source Sans Pro"/>
              <a:buNone/>
            </a:pPr>
            <a:r>
              <a:rPr lang="en-GB" sz="1200" b="1" noProof="0" dirty="0">
                <a:solidFill>
                  <a:schemeClr val="accent1"/>
                </a:solidFill>
              </a:rPr>
              <a:t>Evaluation: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200" noProof="0" dirty="0"/>
              <a:t>Test the design strategy to reconcile validation (SHACL) and usability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C7F556F-9A4F-F239-4BEC-204033B1CE01}"/>
              </a:ext>
            </a:extLst>
          </p:cNvPr>
          <p:cNvSpPr/>
          <p:nvPr/>
        </p:nvSpPr>
        <p:spPr>
          <a:xfrm>
            <a:off x="339980" y="3582683"/>
            <a:ext cx="235056" cy="2356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 dirty="0">
                <a:solidFill>
                  <a:schemeClr val="accent3"/>
                </a:solidFill>
                <a:latin typeface="Source Sans Pro"/>
                <a:ea typeface="Source Sans Pro"/>
                <a:sym typeface="Source Sans Pro"/>
              </a:rPr>
              <a:t>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0DF3F6B-330F-5CFC-0E1E-AE78D0F8D597}"/>
              </a:ext>
            </a:extLst>
          </p:cNvPr>
          <p:cNvSpPr/>
          <p:nvPr/>
        </p:nvSpPr>
        <p:spPr>
          <a:xfrm>
            <a:off x="3161123" y="3587893"/>
            <a:ext cx="235056" cy="2356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 dirty="0">
                <a:solidFill>
                  <a:schemeClr val="accent3"/>
                </a:solidFill>
                <a:latin typeface="Source Sans Pro"/>
                <a:ea typeface="Source Sans Pro"/>
                <a:sym typeface="Source Sans Pro"/>
              </a:rPr>
              <a:t>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C42D2F9-676F-5A5B-888E-5E75618212A6}"/>
              </a:ext>
            </a:extLst>
          </p:cNvPr>
          <p:cNvSpPr/>
          <p:nvPr/>
        </p:nvSpPr>
        <p:spPr>
          <a:xfrm>
            <a:off x="5997155" y="3578466"/>
            <a:ext cx="235056" cy="2356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noProof="0" dirty="0">
                <a:solidFill>
                  <a:schemeClr val="accent3"/>
                </a:solidFill>
                <a:latin typeface="Source Sans Pro"/>
                <a:ea typeface="Source Sans Pro"/>
                <a:sym typeface="Source Sans Pro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5A0E6-FCD0-CC20-76AE-55AEF43A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Futur </a:t>
            </a:r>
            <a:r>
              <a:rPr lang="fr-FR" dirty="0" err="1"/>
              <a:t>work</a:t>
            </a:r>
            <a:r>
              <a:rPr lang="fr-FR" dirty="0"/>
              <a:t> &amp; Questions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5BB6CD-DE66-DADA-F42C-FABFF7EF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err="1"/>
              <a:t>Perfect</a:t>
            </a:r>
            <a:r>
              <a:rPr lang="fr-FR" b="1" dirty="0"/>
              <a:t> </a:t>
            </a:r>
            <a:r>
              <a:rPr lang="fr-FR" b="1" dirty="0" err="1"/>
              <a:t>Form</a:t>
            </a:r>
            <a:r>
              <a:rPr lang="fr-FR" b="1" dirty="0"/>
              <a:t>:</a:t>
            </a:r>
            <a:r>
              <a:rPr lang="fr-FR" dirty="0"/>
              <a:t> </a:t>
            </a:r>
            <a:r>
              <a:rPr lang="fr-FR" dirty="0" err="1"/>
              <a:t>Does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exist</a:t>
            </a:r>
            <a:r>
              <a:rPr lang="fr-FR" dirty="0"/>
              <a:t>? Or </a:t>
            </a:r>
            <a:r>
              <a:rPr lang="fr-FR" dirty="0" err="1"/>
              <a:t>is</a:t>
            </a:r>
            <a:r>
              <a:rPr lang="fr-FR" dirty="0"/>
              <a:t> the goal </a:t>
            </a:r>
            <a:r>
              <a:rPr lang="fr-FR" dirty="0" err="1"/>
              <a:t>just</a:t>
            </a:r>
            <a:r>
              <a:rPr lang="fr-FR" dirty="0"/>
              <a:t> to bridge the </a:t>
            </a:r>
            <a:r>
              <a:rPr lang="fr-FR" dirty="0" err="1"/>
              <a:t>specific</a:t>
            </a:r>
            <a:r>
              <a:rPr lang="fr-FR" dirty="0"/>
              <a:t> gap for graph-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editing</a:t>
            </a:r>
            <a:r>
              <a:rPr lang="fr-FR" dirty="0"/>
              <a:t>?</a:t>
            </a:r>
          </a:p>
          <a:p>
            <a:r>
              <a:rPr lang="fr-FR" b="1" dirty="0"/>
              <a:t>User </a:t>
            </a:r>
            <a:r>
              <a:rPr lang="fr-FR" b="1" dirty="0" err="1"/>
              <a:t>Experience</a:t>
            </a:r>
            <a:r>
              <a:rPr lang="fr-FR" b="1" dirty="0"/>
              <a:t>:</a:t>
            </a:r>
            <a:r>
              <a:rPr lang="fr-FR" dirty="0"/>
              <a:t> 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include</a:t>
            </a:r>
            <a:r>
              <a:rPr lang="fr-FR" dirty="0"/>
              <a:t> a UX </a:t>
            </a:r>
            <a:r>
              <a:rPr lang="fr-FR" dirty="0" err="1"/>
              <a:t>evaluation</a:t>
            </a:r>
            <a:r>
              <a:rPr lang="fr-FR" dirty="0"/>
              <a:t>? </a:t>
            </a:r>
            <a:r>
              <a:rPr lang="fr-FR" sz="1600" dirty="0">
                <a:solidFill>
                  <a:srgbClr val="C00000"/>
                </a:solidFill>
              </a:rPr>
              <a:t>(</a:t>
            </a:r>
            <a:r>
              <a:rPr lang="fr-FR" sz="1600" dirty="0" err="1">
                <a:solidFill>
                  <a:srgbClr val="C00000"/>
                </a:solidFill>
              </a:rPr>
              <a:t>Would</a:t>
            </a:r>
            <a:r>
              <a:rPr lang="fr-FR" sz="1600" dirty="0">
                <a:solidFill>
                  <a:srgbClr val="C00000"/>
                </a:solidFill>
              </a:rPr>
              <a:t> </a:t>
            </a:r>
            <a:r>
              <a:rPr lang="fr-FR" sz="1600" dirty="0" err="1">
                <a:solidFill>
                  <a:srgbClr val="C00000"/>
                </a:solidFill>
              </a:rPr>
              <a:t>require</a:t>
            </a:r>
            <a:r>
              <a:rPr lang="fr-FR" sz="1600" dirty="0">
                <a:solidFill>
                  <a:srgbClr val="C00000"/>
                </a:solidFill>
              </a:rPr>
              <a:t> Test Protocol)</a:t>
            </a:r>
          </a:p>
          <a:p>
            <a:r>
              <a:rPr lang="fr-FR" b="1" dirty="0" err="1"/>
              <a:t>Modularity</a:t>
            </a:r>
            <a:r>
              <a:rPr lang="fr-FR" b="1" dirty="0"/>
              <a:t>:</a:t>
            </a:r>
            <a:r>
              <a:rPr lang="fr-FR" dirty="0"/>
              <a:t> Can the </a:t>
            </a:r>
            <a:r>
              <a:rPr lang="fr-FR" dirty="0" err="1"/>
              <a:t>form</a:t>
            </a:r>
            <a:r>
              <a:rPr lang="fr-FR" dirty="0"/>
              <a:t> </a:t>
            </a:r>
            <a:r>
              <a:rPr lang="fr-FR" dirty="0" err="1"/>
              <a:t>itself</a:t>
            </a: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</a:t>
            </a:r>
            <a:r>
              <a:rPr lang="fr-FR" dirty="0" err="1"/>
              <a:t>modular</a:t>
            </a:r>
            <a:r>
              <a:rPr lang="fr-FR" dirty="0"/>
              <a:t>, mirroring </a:t>
            </a:r>
            <a:r>
              <a:rPr lang="fr-FR" dirty="0" err="1"/>
              <a:t>RML's</a:t>
            </a:r>
            <a:r>
              <a:rPr lang="fr-FR" dirty="0"/>
              <a:t> </a:t>
            </a:r>
            <a:r>
              <a:rPr lang="fr-FR" dirty="0" err="1"/>
              <a:t>modularity</a:t>
            </a:r>
            <a:r>
              <a:rPr lang="fr-FR" dirty="0"/>
              <a:t>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792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0EB2A-3D91-D140-5B1B-9F28BDA9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95330"/>
            <a:ext cx="8520600" cy="623400"/>
          </a:xfrm>
        </p:spPr>
        <p:txBody>
          <a:bodyPr/>
          <a:lstStyle/>
          <a:p>
            <a:r>
              <a:rPr lang="en-GB" noProof="0" dirty="0"/>
              <a:t>Implementation Status (Darmstadt Fork)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16DFF2-8837-6E2B-D708-DACCDBED7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123" y="1070228"/>
            <a:ext cx="8001510" cy="367794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 b="1" noProof="0" dirty="0">
                <a:solidFill>
                  <a:schemeClr val="tx1"/>
                </a:solidFill>
              </a:rPr>
              <a:t>TODOs current focus:</a:t>
            </a:r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noProof="0" dirty="0"/>
              <a:t>Improving </a:t>
            </a:r>
            <a:r>
              <a:rPr lang="en-GB" sz="1600" noProof="0" dirty="0" err="1"/>
              <a:t>sh:or</a:t>
            </a:r>
            <a:r>
              <a:rPr lang="en-GB" sz="1600" noProof="0" dirty="0"/>
              <a:t> </a:t>
            </a:r>
            <a:r>
              <a:rPr lang="en-GB" sz="1600" noProof="0" dirty="0" err="1"/>
              <a:t>behavior</a:t>
            </a:r>
            <a:r>
              <a:rPr lang="en-GB" sz="1600" noProof="0" dirty="0"/>
              <a:t> to look more like </a:t>
            </a:r>
            <a:r>
              <a:rPr lang="en-GB" sz="1600" noProof="0" dirty="0" err="1"/>
              <a:t>sh:in</a:t>
            </a:r>
            <a:r>
              <a:rPr lang="en-GB" sz="1600" noProof="0" dirty="0"/>
              <a:t>. </a:t>
            </a:r>
            <a:r>
              <a:rPr lang="en-GB" sz="1200" noProof="0" dirty="0"/>
              <a:t>☑️</a:t>
            </a:r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noProof="0" dirty="0"/>
              <a:t>Adding default values for dropdowns </a:t>
            </a:r>
            <a:r>
              <a:rPr lang="en-GB" sz="1200" noProof="0" dirty="0"/>
              <a:t>(shortcut </a:t>
            </a:r>
            <a:r>
              <a:rPr lang="en-GB" sz="1200" noProof="0" dirty="0" err="1"/>
              <a:t>rml:subjectMap</a:t>
            </a:r>
            <a:r>
              <a:rPr lang="en-GB" sz="1200" noProof="0" dirty="0"/>
              <a:t> – </a:t>
            </a:r>
            <a:r>
              <a:rPr lang="en-GB" sz="1200" noProof="0" dirty="0" err="1"/>
              <a:t>rml:subject</a:t>
            </a:r>
            <a:r>
              <a:rPr lang="en-GB" sz="1200" noProof="0" dirty="0"/>
              <a:t>)  ☑️</a:t>
            </a:r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noProof="0" dirty="0"/>
              <a:t>Handling prefixes (~OK but check if needs adaptation).</a:t>
            </a:r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dirty="0"/>
              <a:t>(Add example entry)</a:t>
            </a:r>
            <a:endParaRPr lang="en-GB" sz="1600" noProof="0" dirty="0"/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b="1" noProof="0" dirty="0"/>
              <a:t>The Multi Node challenge:</a:t>
            </a:r>
          </a:p>
          <a:p>
            <a:pPr marL="1032950" lvl="3" indent="-400050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GB" sz="1200" noProof="0" dirty="0"/>
              <a:t>Now handled dumbly </a:t>
            </a:r>
          </a:p>
          <a:p>
            <a:pPr marL="1032950" lvl="3" indent="-400050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GB" sz="1200" noProof="0" dirty="0"/>
              <a:t>Ideally: keep the shape untouched. Or at least be handle it a bit more wisely..</a:t>
            </a:r>
          </a:p>
          <a:p>
            <a:pPr marL="93150" indent="-400050">
              <a:lnSpc>
                <a:spcPct val="100000"/>
              </a:lnSpc>
              <a:buFont typeface="+mj-lt"/>
              <a:buAutoNum type="romanLcPeriod"/>
            </a:pPr>
            <a:r>
              <a:rPr lang="en-GB" sz="1600" b="1" noProof="0" dirty="0"/>
              <a:t>The Node Reuse challenge:</a:t>
            </a:r>
          </a:p>
          <a:p>
            <a:pPr marL="1032950" lvl="3" indent="-400050">
              <a:lnSpc>
                <a:spcPct val="10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GB" sz="1200" noProof="0" dirty="0"/>
              <a:t>Try to make use of the </a:t>
            </a:r>
            <a:r>
              <a:rPr lang="en-GB" sz="1200" noProof="0" dirty="0" err="1"/>
              <a:t>setClassInstance</a:t>
            </a:r>
            <a:r>
              <a:rPr lang="en-GB" sz="1200" noProof="0" dirty="0"/>
              <a:t> provider </a:t>
            </a:r>
          </a:p>
          <a:p>
            <a:pPr marL="0" lvl="1" indent="-281500">
              <a:lnSpc>
                <a:spcPct val="100000"/>
              </a:lnSpc>
              <a:spcBef>
                <a:spcPts val="0"/>
              </a:spcBef>
              <a:buNone/>
            </a:pPr>
            <a:endParaRPr lang="en-GB" sz="1600" b="1" noProof="0" dirty="0">
              <a:solidFill>
                <a:schemeClr val="tx1"/>
              </a:solidFill>
            </a:endParaRPr>
          </a:p>
          <a:p>
            <a:pPr marL="0" lvl="1" indent="-28150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noProof="0" dirty="0">
                <a:solidFill>
                  <a:schemeClr val="tx1"/>
                </a:solidFill>
              </a:rPr>
              <a:t>Technical Challenges: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SzPts val="1800"/>
              <a:buFontTx/>
              <a:buChar char="-"/>
            </a:pPr>
            <a:r>
              <a:rPr lang="en-GB" noProof="0" dirty="0"/>
              <a:t>Most forms require a « Root Node »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SzPts val="1800"/>
              <a:buFontTx/>
              <a:buChar char="-"/>
            </a:pPr>
            <a:r>
              <a:rPr lang="en-GB" noProof="0" dirty="0" err="1"/>
              <a:t>setClassInstance</a:t>
            </a:r>
            <a:r>
              <a:rPr lang="en-GB" noProof="0" dirty="0"/>
              <a:t> provider works for data given beforehand, not yet for nodes created inside the form</a:t>
            </a: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  <a:buSzPts val="1800"/>
              <a:buFontTx/>
              <a:buChar char="-"/>
            </a:pPr>
            <a:r>
              <a:rPr lang="en-GB" dirty="0"/>
              <a:t>Ongoing decisions on where to work in: the display, the HTML component (&lt;</a:t>
            </a:r>
            <a:r>
              <a:rPr lang="en-GB" dirty="0" err="1"/>
              <a:t>shacl</a:t>
            </a:r>
            <a:r>
              <a:rPr lang="en-GB" dirty="0"/>
              <a:t>-form&gt;) or the shapes.</a:t>
            </a:r>
            <a:endParaRPr lang="en-GB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FCDDB08-C88C-BAE0-4BD2-609BF6BD728D}"/>
              </a:ext>
            </a:extLst>
          </p:cNvPr>
          <p:cNvSpPr/>
          <p:nvPr/>
        </p:nvSpPr>
        <p:spPr>
          <a:xfrm>
            <a:off x="333884" y="1780040"/>
            <a:ext cx="235056" cy="2356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3"/>
                </a:solidFill>
                <a:latin typeface="Source Sans Pro"/>
                <a:ea typeface="Source Sans Pro"/>
                <a:sym typeface="Source Sans Pro"/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9384365-2C3A-C63A-F2CB-B78ED8166127}"/>
              </a:ext>
            </a:extLst>
          </p:cNvPr>
          <p:cNvSpPr/>
          <p:nvPr/>
        </p:nvSpPr>
        <p:spPr>
          <a:xfrm>
            <a:off x="333884" y="2690922"/>
            <a:ext cx="235056" cy="23567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accent3"/>
                </a:solidFill>
                <a:latin typeface="Source Sans Pro"/>
                <a:ea typeface="Source Sans Pro"/>
                <a:sym typeface="Source Sans Pro"/>
              </a:rPr>
              <a:t>2</a:t>
            </a:r>
          </a:p>
        </p:txBody>
      </p:sp>
      <p:sp>
        <p:nvSpPr>
          <p:cNvPr id="8" name="Accolades 7">
            <a:extLst>
              <a:ext uri="{FF2B5EF4-FFF2-40B4-BE49-F238E27FC236}">
                <a16:creationId xmlns:a16="http://schemas.microsoft.com/office/drawing/2014/main" id="{577F3F67-1BF3-DBDE-7117-BC40FF0C0E01}"/>
              </a:ext>
            </a:extLst>
          </p:cNvPr>
          <p:cNvSpPr/>
          <p:nvPr/>
        </p:nvSpPr>
        <p:spPr>
          <a:xfrm>
            <a:off x="591123" y="1395949"/>
            <a:ext cx="382452" cy="1003852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Accolades 8">
            <a:extLst>
              <a:ext uri="{FF2B5EF4-FFF2-40B4-BE49-F238E27FC236}">
                <a16:creationId xmlns:a16="http://schemas.microsoft.com/office/drawing/2014/main" id="{AA3EE366-174A-F85A-0A9E-216AA06E4A1E}"/>
              </a:ext>
            </a:extLst>
          </p:cNvPr>
          <p:cNvSpPr/>
          <p:nvPr/>
        </p:nvSpPr>
        <p:spPr>
          <a:xfrm>
            <a:off x="591123" y="2399801"/>
            <a:ext cx="382452" cy="876247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74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err="1"/>
              <a:t>References</a:t>
            </a:r>
            <a:r>
              <a:rPr lang="fr" dirty="0"/>
              <a:t> (à </a:t>
            </a:r>
            <a:r>
              <a:rPr lang="fr" dirty="0" err="1"/>
              <a:t>completer</a:t>
            </a:r>
            <a:r>
              <a:rPr lang="fr" dirty="0"/>
              <a:t>)</a:t>
            </a:r>
            <a:endParaRPr dirty="0"/>
          </a:p>
        </p:txBody>
      </p:sp>
      <p:sp>
        <p:nvSpPr>
          <p:cNvPr id="204" name="Google Shape;20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de-DE" sz="1100" dirty="0"/>
              <a:t>Links: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de-DE" sz="1100" dirty="0">
                <a:hlinkClick r:id="rId3"/>
              </a:rPr>
              <a:t>https://github.com/ULB-Darmstadt/shacl-form</a:t>
            </a:r>
            <a:endParaRPr lang="de-DE" sz="1100" dirty="0"/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de-DE" sz="1100" dirty="0">
                <a:hlinkClick r:id="rId4"/>
              </a:rPr>
              <a:t>https://kg-construct.github.io/rml-core/spec/docs/#mapping-graphs-and-the-rml-vocabulary</a:t>
            </a:r>
            <a:endParaRPr lang="de-DE" sz="1100" dirty="0"/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de-DE" sz="1100" dirty="0">
                <a:hlinkClick r:id="rId5"/>
              </a:rPr>
              <a:t>https://www.w3.org/TR/shacl/</a:t>
            </a:r>
            <a:endParaRPr lang="de-DE" sz="1100" dirty="0"/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de-DE" sz="1100" dirty="0">
                <a:hlinkClick r:id="rId6"/>
              </a:rPr>
              <a:t>https://medium.com/@amivanoff/the-new-rml-cheat-sheet-map-everything-to-the-rdf-with-ease-ba6a767edfaf</a:t>
            </a:r>
            <a:endParaRPr lang="de-DE" sz="1100" dirty="0"/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endParaRPr lang="de-DE" sz="1100" dirty="0"/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de-DE" sz="1100" dirty="0"/>
              <a:t>Papers: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fr-FR" sz="1100" dirty="0">
                <a:hlinkClick r:id="rId7"/>
              </a:rPr>
              <a:t>https://link.springer.com/chapter/10.1007/978-3-031-39141-5_23</a:t>
            </a:r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r>
              <a:rPr lang="fr-FR" sz="1100" dirty="0">
                <a:hlinkClick r:id="rId7"/>
              </a:rPr>
              <a:t>https://essay.utwente.nl/fileshare/file/96336/viste_BA_EEMCS.pdf</a:t>
            </a:r>
            <a:endParaRPr lang="fr-FR" sz="1100" dirty="0"/>
          </a:p>
          <a:p>
            <a:pPr marL="285750" indent="-285750">
              <a:spcAft>
                <a:spcPts val="400"/>
              </a:spcAft>
              <a:buFont typeface="Wingdings" pitchFamily="2" charset="2"/>
              <a:buChar char="§"/>
            </a:pPr>
            <a:endParaRPr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1230</Words>
  <Application>Microsoft Macintosh PowerPoint</Application>
  <PresentationFormat>Affichage à l'écran (16:9)</PresentationFormat>
  <Paragraphs>166</Paragraphs>
  <Slides>13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Wingdings</vt:lpstr>
      <vt:lpstr>Source Sans Pro</vt:lpstr>
      <vt:lpstr>Police système Courant</vt:lpstr>
      <vt:lpstr>Arial</vt:lpstr>
      <vt:lpstr>Raleway</vt:lpstr>
      <vt:lpstr>Plum</vt:lpstr>
      <vt:lpstr>Master thesis</vt:lpstr>
      <vt:lpstr>Présentation PowerPoint</vt:lpstr>
      <vt:lpstr>What I have done so far… </vt:lpstr>
      <vt:lpstr>Présentation PowerPoint</vt:lpstr>
      <vt:lpstr>What about the research question ?</vt:lpstr>
      <vt:lpstr>Présentation PowerPoint</vt:lpstr>
      <vt:lpstr>Présentation PowerPoint</vt:lpstr>
      <vt:lpstr>What about the research question ? (again)</vt:lpstr>
      <vt:lpstr>Main Core Problems</vt:lpstr>
      <vt:lpstr>Evolution of the research question</vt:lpstr>
      <vt:lpstr>Futur work &amp; Questions</vt:lpstr>
      <vt:lpstr>Implementation Status (Darmstadt Fork) </vt:lpstr>
      <vt:lpstr>References (à completer)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Mangolopa Christal</cp:lastModifiedBy>
  <cp:revision>7</cp:revision>
  <dcterms:modified xsi:type="dcterms:W3CDTF">2025-12-17T16:35:46Z</dcterms:modified>
</cp:coreProperties>
</file>